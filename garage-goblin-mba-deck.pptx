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ffe6824e2a4da6" /><Relationship Type="http://schemas.openxmlformats.org/officeDocument/2006/relationships/extended-properties" Target="/docProps/app.xml" Id="R39d8cea37c72421c" /><Relationship Type="http://schemas.openxmlformats.org/officeDocument/2006/relationships/officeDocument" Target="/ppt/presentation.xml" Id="R381e762c7fea4803" /></Relationships>
</file>

<file path=ppt/presentation.xml><?xml version="1.0" encoding="utf-8"?>
<p:presentation xmlns:p="http://schemas.openxmlformats.org/presentationml/2006/main">
  <p:sldMasterIdLst>
    <p:sldMasterId xmlns:r="http://schemas.openxmlformats.org/officeDocument/2006/relationships" id="2147483648" r:id="R15c170b49c314d45"/>
  </p:sldMasterIdLst>
  <p:notesMasterIdLst>
    <p:notesMasterId xmlns:r="http://schemas.openxmlformats.org/officeDocument/2006/relationships" r:id="Rc6285f0af1cc4c88"/>
  </p:notesMasterIdLst>
  <p:sldIdLst>
    <p:sldId xmlns:r="http://schemas.openxmlformats.org/officeDocument/2006/relationships" id="256" r:id="Ra6cf67cd68714310"/>
    <p:sldId xmlns:r="http://schemas.openxmlformats.org/officeDocument/2006/relationships" id="257" r:id="Ra6997cc0d9c84082"/>
    <p:sldId xmlns:r="http://schemas.openxmlformats.org/officeDocument/2006/relationships" id="258" r:id="R0c1f22a10ace4701"/>
    <p:sldId xmlns:r="http://schemas.openxmlformats.org/officeDocument/2006/relationships" id="259" r:id="R4c468af917524b49"/>
    <p:sldId xmlns:r="http://schemas.openxmlformats.org/officeDocument/2006/relationships" id="260" r:id="R1a88ee4d5fb64e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267a46e0b6413c" /><Relationship Type="http://schemas.openxmlformats.org/officeDocument/2006/relationships/slideMaster" Target="/ppt/slideMasters/slideMaster1.xml" Id="R15c170b49c314d45" /><Relationship Type="http://schemas.openxmlformats.org/officeDocument/2006/relationships/notesMaster" Target="/ppt/notesMasters/notesMaster1.xml" Id="Rc6285f0af1cc4c88" /><Relationship Type="http://schemas.openxmlformats.org/officeDocument/2006/relationships/presProps" Target="/ppt/presProps.xml" Id="R2faa6abb00a847a7" /><Relationship Type="http://schemas.openxmlformats.org/officeDocument/2006/relationships/tableStyles" Target="/ppt/tableStyles.xml" Id="Rbe182b4f7cfc4f12" /><Relationship Type="http://schemas.openxmlformats.org/officeDocument/2006/relationships/slide" Target="/ppt/slides/slide1.xml" Id="Ra6cf67cd68714310" /><Relationship Type="http://schemas.openxmlformats.org/officeDocument/2006/relationships/slide" Target="/ppt/slides/slide2.xml" Id="Ra6997cc0d9c84082" /><Relationship Type="http://schemas.openxmlformats.org/officeDocument/2006/relationships/slide" Target="/ppt/slides/slide3.xml" Id="R0c1f22a10ace4701" /><Relationship Type="http://schemas.openxmlformats.org/officeDocument/2006/relationships/slide" Target="/ppt/slides/slide4.xml" Id="R4c468af917524b49" /><Relationship Type="http://schemas.openxmlformats.org/officeDocument/2006/relationships/slide" Target="/ppt/slides/slide5.xml" Id="R1a88ee4d5fb64e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c2dba4fbf346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dce56654ca4d5e" /><Relationship Type="http://schemas.openxmlformats.org/officeDocument/2006/relationships/notesMaster" Target="/ppt/notesMasters/notesMaster1.xml" Id="R233666d60bf440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c44c362eaf40b4" /><Relationship Type="http://schemas.openxmlformats.org/officeDocument/2006/relationships/notesMaster" Target="/ppt/notesMasters/notesMaster1.xml" Id="Ref3cbcaffa0b49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c5492f7914a2e" /><Relationship Type="http://schemas.openxmlformats.org/officeDocument/2006/relationships/notesMaster" Target="/ppt/notesMasters/notesMaster1.xml" Id="R1169a3c61b7f40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a3b11025fc4115" /><Relationship Type="http://schemas.openxmlformats.org/officeDocument/2006/relationships/notesMaster" Target="/ppt/notesMasters/notesMaster1.xml" Id="R68dd184a3cbc4c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5eba9f9fa6476d" /><Relationship Type="http://schemas.openxmlformats.org/officeDocument/2006/relationships/notesMaster" Target="/ppt/notesMasters/notesMaster1.xml" Id="Rd14cf947444e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 about 35 seconds</a:t>
            </a:r>
          </a:p>
          <a:p xmlns:a="http://schemas.openxmlformats.org/drawingml/2006/main">
            <a:r>
              <a:t/>
            </a:r>
          </a:p>
          <a:p xmlns:a="http://schemas.openxmlformats.org/drawingml/2006/main">
            <a:r>
              <a:t>Say:</a:t>
            </a:r>
          </a:p>
          <a:p xmlns:a="http://schemas.openxmlformats.org/drawingml/2006/main">
            <a:r>
              <a:t>“Building a kit car means doing project management, engineering research, and parts archaeology at the same time. You might have a 500-page assembly manual, aftermarket brake instructions, wiring diagrams, and random forum threads—all while standing under a car with dirty hands.”</a:t>
            </a:r>
          </a:p>
          <a:p xmlns:a="http://schemas.openxmlformats.org/drawingml/2006/main">
            <a:r>
              <a:t/>
            </a:r>
          </a:p>
          <a:p xmlns:a="http://schemas.openxmlformats.org/drawingml/2006/main">
            <a:r>
              <a:t>“I am building a Factory Five Mk5 Roadster, and I wanted to see whether the useful part of AI could be productized without turning safety-critical work into a hallucination machine.”</a:t>
            </a:r>
          </a:p>
          <a:p xmlns:a="http://schemas.openxmlformats.org/drawingml/2006/main">
            <a:r>
              <a:t/>
            </a:r>
          </a:p>
          <a:p xmlns:a="http://schemas.openxmlformats.org/drawingml/2006/main">
            <a:r>
              <a:t>PRODUCT IN ONE SENTENCE — about 20 seconds</a:t>
            </a:r>
          </a:p>
          <a:p xmlns:a="http://schemas.openxmlformats.org/drawingml/2006/main">
            <a:r>
              <a:t/>
            </a:r>
          </a:p>
          <a:p xmlns:a="http://schemas.openxmlformats.org/drawingml/2006/main">
            <a:r>
              <a:t>“Garage Goblin is a manual-first garage copilot. It creates a short, practical briefing for a task, but every factual answer points back to the exact PDF page that controls it.”</a:t>
            </a:r>
          </a:p>
          <a:p xmlns:a="http://schemas.openxmlformats.org/drawingml/2006/main">
            <a:r>
              <a:t/>
            </a:r>
          </a:p>
          <a:p xmlns:a="http://schemas.openxmlformats.org/drawingml/2006/main">
            <a:r>
              <a:t>[Sources]</a:t>
            </a:r>
          </a:p>
          <a:p xmlns:a="http://schemas.openxmlformats.org/drawingml/2006/main">
            <a:r>
              <a:t>- Local product materials: /Users/jfitzer/BuildBuddy/PRESENTATION_OUTLINE.md</a:t>
            </a:r>
          </a:p>
          <a:p xmlns:a="http://schemas.openxmlformats.org/drawingml/2006/main">
            <a:r>
              <a:t>- Demo narration: /Users/jfitzer/BuildBuddy/DEMO_SCRIPT.md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REAL PROBLEM</a:t>
            </a:r>
          </a:p>
          <a:p xmlns:a="http://schemas.openxmlformats.org/drawingml/2006/main">
            <a:r>
              <a:t/>
            </a:r>
          </a:p>
          <a:p xmlns:a="http://schemas.openxmlformats.org/drawingml/2006/main">
            <a:r>
              <a:t>Say:</a:t>
            </a:r>
          </a:p>
          <a:p xmlns:a="http://schemas.openxmlformats.org/drawingml/2006/main">
            <a:r>
              <a:t>“Building a kit car means doing project management, engineering research, and parts archaeology at the same time. You might have a 500-page assembly manual, aftermarket brake instructions, wiring diagrams, and random forum threads—all while standing under a car with dirty hands.”</a:t>
            </a:r>
          </a:p>
          <a:p xmlns:a="http://schemas.openxmlformats.org/drawingml/2006/main">
            <a:r>
              <a:t/>
            </a:r>
          </a:p>
          <a:p xmlns:a="http://schemas.openxmlformats.org/drawingml/2006/main">
            <a:r>
              <a:t>Make clear that the prompt comes from a real Factory Five builder experience, not a hypothetical persona. The same part can be described by the controlling manual, a component vendor, and a forum post—and those sources do not automatically agree.</a:t>
            </a:r>
          </a:p>
          <a:p xmlns:a="http://schemas.openxmlformats.org/drawingml/2006/main">
            <a:r>
              <a:t/>
            </a:r>
          </a:p>
          <a:p xmlns:a="http://schemas.openxmlformats.org/drawingml/2006/main">
            <a:r>
              <a:t>Transition: “So the design question is not ‘can AI answer?’ It is ‘which answer is allowed to be in charge?’”</a:t>
            </a:r>
          </a:p>
          <a:p xmlns:a="http://schemas.openxmlformats.org/drawingml/2006/main">
            <a:r>
              <a:t/>
            </a:r>
          </a:p>
          <a:p xmlns:a="http://schemas.openxmlformats.org/drawingml/2006/main">
            <a:r>
              <a:t>[Sources]</a:t>
            </a:r>
          </a:p>
          <a:p xmlns:a="http://schemas.openxmlformats.org/drawingml/2006/main">
            <a:r>
              <a:t>- Local product materials: /Users/jfitzer/BuildBuddy/PRESENTATION_OUTLINE.md</a:t>
            </a:r>
          </a:p>
          <a:p xmlns:a="http://schemas.openxmlformats.org/drawingml/2006/main">
            <a:r>
              <a:t>- Demo narration: /Users/jfitzer/BuildBuddy/DEMO_SCRIPT.md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IT WORKS — about 45 seconds</a:t>
            </a:r>
          </a:p>
          <a:p xmlns:a="http://schemas.openxmlformats.org/drawingml/2006/main">
            <a:r>
              <a:t/>
            </a:r>
          </a:p>
          <a:p xmlns:a="http://schemas.openxmlformats.org/drawingml/2006/main">
            <a:r>
              <a:t>Click “How it works” in the sidebar.</a:t>
            </a:r>
          </a:p>
          <a:p xmlns:a="http://schemas.openxmlformats.org/drawingml/2006/main">
            <a:r>
              <a:t/>
            </a:r>
          </a:p>
          <a:p xmlns:a="http://schemas.openxmlformats.org/drawingml/2006/main">
            <a:r>
              <a:t>Say:</a:t>
            </a:r>
          </a:p>
          <a:p xmlns:a="http://schemas.openxmlformats.org/drawingml/2006/main">
            <a:r>
              <a:t>“The important design choice is the source hierarchy. Factory Five documentation controls. Vendor instructions come next. Forum experience is useful, but it is visibly labeled as community context—not a requirement.”</a:t>
            </a:r>
          </a:p>
          <a:p xmlns:a="http://schemas.openxmlformats.org/drawingml/2006/main">
            <a:r>
              <a:t/>
            </a:r>
          </a:p>
          <a:p xmlns:a="http://schemas.openxmlformats.org/drawingml/2006/main">
            <a:r>
              <a:t>“The AI is not asked to remember how to build a car. It maps the question to sections in the uploaded manuals, pulls the relevant pages, and turns those pages into a staging list, sequence, and gotchas. If documentation conflicts or a selected part is missing instructions, it says STOP &amp; VERIFY instead of pretending it knows.”</a:t>
            </a:r>
          </a:p>
          <a:p xmlns:a="http://schemas.openxmlformats.org/drawingml/2006/main">
            <a:r>
              <a:t/>
            </a:r>
          </a:p>
          <a:p xmlns:a="http://schemas.openxmlformats.org/drawingml/2006/main">
            <a:r>
              <a:t>Point out source ranking, exact page links, structured torque records, and the explicit uncertainty behavior.</a:t>
            </a:r>
          </a:p>
          <a:p xmlns:a="http://schemas.openxmlformats.org/drawingml/2006/main">
            <a:r>
              <a:t/>
            </a:r>
          </a:p>
          <a:p xmlns:a="http://schemas.openxmlformats.org/drawingml/2006/main">
            <a:r>
              <a:t>[Sources]</a:t>
            </a:r>
          </a:p>
          <a:p xmlns:a="http://schemas.openxmlformats.org/drawingml/2006/main">
            <a:r>
              <a:t>- Local product materials: /Users/jfitzer/BuildBuddy/PRESENTATION_OUTLINE.md</a:t>
            </a:r>
          </a:p>
          <a:p xmlns:a="http://schemas.openxmlformats.org/drawingml/2006/main">
            <a:r>
              <a:t>- Demo narration: /Users/jfitzer/BuildBuddy/DEMO_SCRIPT.md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REAL AI DEMO — about 90 seconds</a:t>
            </a:r>
          </a:p>
          <a:p xmlns:a="http://schemas.openxmlformats.org/drawingml/2006/main">
            <a:r>
              <a:t/>
            </a:r>
          </a:p>
          <a:p xmlns:a="http://schemas.openxmlformats.org/drawingml/2006/main">
            <a:r>
              <a:t>Switch to the running app. First click “How it works” briefly, then the gear beside the Garage Goblin logo, then “Run live demo.”</a:t>
            </a:r>
          </a:p>
          <a:p xmlns:a="http://schemas.openxmlformats.org/drawingml/2006/main">
            <a:r>
              <a:t/>
            </a:r>
          </a:p>
          <a:p xmlns:a="http://schemas.openxmlformats.org/drawingml/2006/main">
            <a:r>
              <a:t>While the queue runs, say:</a:t>
            </a:r>
          </a:p>
          <a:p xmlns:a="http://schemas.openxmlformats.org/drawingml/2006/main">
            <a:r>
              <a:t>“These are real queries against indexed Factory Five and vendor documents—not prerecorded chatbot text. They run one at a time so the demo is reliable and each result becomes a separate saved conversation.”</a:t>
            </a:r>
          </a:p>
          <a:p xmlns:a="http://schemas.openxmlformats.org/drawingml/2006/main">
            <a:r>
              <a:t/>
            </a:r>
          </a:p>
          <a:p xmlns:a="http://schemas.openxmlformats.org/drawingml/2006/main">
            <a:r>
              <a:t>Open the live fuel-tank installation result. Say:</a:t>
            </a:r>
          </a:p>
          <a:p xmlns:a="http://schemas.openxmlformats.org/drawingml/2006/main">
            <a:r>
              <a:t>“This is the workflow I actually want in the garage: what I am doing, what to bring over, the rough sequence, the non-obvious mistakes, and checks before I close something up. It does not regurgitate the full manual. The manual remains the deep procedure.”</a:t>
            </a:r>
          </a:p>
          <a:p xmlns:a="http://schemas.openxmlformats.org/drawingml/2006/main">
            <a:r>
              <a:t/>
            </a:r>
          </a:p>
          <a:p xmlns:a="http://schemas.openxmlformats.org/drawingml/2006/main">
            <a:r>
              <a:t>Click one of the PDF page links. Say:</a:t>
            </a:r>
          </a:p>
          <a:p xmlns:a="http://schemas.openxmlformats.org/drawingml/2006/main">
            <a:r>
              <a:t>“This is the trust mechanism. The answer is useful because it is concise, but I can immediately inspect the actual source page.”</a:t>
            </a:r>
          </a:p>
          <a:p xmlns:a="http://schemas.openxmlformats.org/drawingml/2006/main">
            <a:r>
              <a:t/>
            </a:r>
          </a:p>
          <a:p xmlns:a="http://schemas.openxmlformats.org/drawingml/2006/main">
            <a:r>
              <a:t>SHOW SAFETY BEHAVIOR — about 40 seconds</a:t>
            </a:r>
          </a:p>
          <a:p xmlns:a="http://schemas.openxmlformats.org/drawingml/2006/main">
            <a:r>
              <a:t>Open the live brake-fluid conflict conversation. Explain that Factory Five calls for DOT 3 while the selected Wilwood instructions specify a different performance-fluid requirement. Garage Goblin surfaces both, cites both, and tells the builder when to stop and verify with Factory Five and Wilwood.</a:t>
            </a:r>
          </a:p>
          <a:p xmlns:a="http://schemas.openxmlformats.org/drawingml/2006/main">
            <a:r>
              <a:t/>
            </a:r>
          </a:p>
          <a:p xmlns:a="http://schemas.openxmlformats.org/drawingml/2006/main">
            <a:r>
              <a:t>OPTIONAL COMMUNITY RESEARCH</a:t>
            </a:r>
          </a:p>
          <a:p xmlns:a="http://schemas.openxmlformats.org/drawingml/2006/main">
            <a:r>
              <a:t>Return to the fuel-tank briefing and click “Research Factory Five Forum gotchas.” Forum experience is a separate research pass and never overrides the controlling manual.</a:t>
            </a:r>
          </a:p>
          <a:p xmlns:a="http://schemas.openxmlformats.org/drawingml/2006/main">
            <a:r>
              <a:t/>
            </a:r>
          </a:p>
          <a:p xmlns:a="http://schemas.openxmlformats.org/drawingml/2006/main">
            <a:r>
              <a:t>FALLBACK IF LIVE AI IS SLOW</a:t>
            </a:r>
          </a:p>
          <a:p xmlns:a="http://schemas.openxmlformats.org/drawingml/2006/main">
            <a:r>
              <a:t>Click the gear, then “Open canned demo.” Say: “I planned for the demo gods. This view uses the same source-linked examples, but it makes no API calls. The product can still show the experience, citations, forum labeling, and safety behavior even if Wi‑Fi or a rate limit decides to be dramatic.”</a:t>
            </a:r>
          </a:p>
          <a:p xmlns:a="http://schemas.openxmlformats.org/drawingml/2006/main">
            <a:r>
              <a:t/>
            </a:r>
          </a:p>
          <a:p xmlns:a="http://schemas.openxmlformats.org/drawingml/2006/main">
            <a:r>
              <a:t>[Sources]</a:t>
            </a:r>
          </a:p>
          <a:p xmlns:a="http://schemas.openxmlformats.org/drawingml/2006/main">
            <a:r>
              <a:t>- Local product materials: /Users/jfitzer/BuildBuddy/PRESENTATION_OUTLINE.md</a:t>
            </a:r>
          </a:p>
          <a:p xmlns:a="http://schemas.openxmlformats.org/drawingml/2006/main">
            <a:r>
              <a:t>- Demo narration: /Users/jfitzer/BuildBuddy/DEMO_SCRIPT.md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PRODUCT PATH — about 30 seconds</a:t>
            </a:r>
          </a:p>
          <a:p xmlns:a="http://schemas.openxmlformats.org/drawingml/2006/main">
            <a:r>
              <a:t/>
            </a:r>
          </a:p>
          <a:p xmlns:a="http://schemas.openxmlformats.org/drawingml/2006/main">
            <a:r>
              <a:t>Say:</a:t>
            </a:r>
          </a:p>
          <a:p xmlns:a="http://schemas.openxmlformats.org/drawingml/2006/main">
            <a:r>
              <a:t>“This proof of concept is intentionally narrow: one Factory Five Mk5 build, manual-grounded guidance, citations, and saved briefings. The product path is authenticated user projects, private document storage, real saved build history, and the same safety rules applied to each builder’s exact configuration.”</a:t>
            </a:r>
          </a:p>
          <a:p xmlns:a="http://schemas.openxmlformats.org/drawingml/2006/main">
            <a:r>
              <a:t/>
            </a:r>
          </a:p>
          <a:p xmlns:a="http://schemas.openxmlformats.org/drawingml/2006/main">
            <a:r>
              <a:t>“The point is not to replace judgment. It is to make the correct documentation available at the moment a builder needs it.”</a:t>
            </a:r>
          </a:p>
          <a:p xmlns:a="http://schemas.openxmlformats.org/drawingml/2006/main">
            <a:r>
              <a:t/>
            </a:r>
          </a:p>
          <a:p xmlns:a="http://schemas.openxmlformats.org/drawingml/2006/main">
            <a:r>
              <a:t>If asked about going beyond Factory Five, say that the retrieval approach generalizes, but this demo deliberately validates one build first.</a:t>
            </a:r>
          </a:p>
          <a:p xmlns:a="http://schemas.openxmlformats.org/drawingml/2006/main">
            <a:r>
              <a:t/>
            </a:r>
          </a:p>
          <a:p xmlns:a="http://schemas.openxmlformats.org/drawingml/2006/main">
            <a:r>
              <a:t>[Sources]</a:t>
            </a:r>
          </a:p>
          <a:p xmlns:a="http://schemas.openxmlformats.org/drawingml/2006/main">
            <a:r>
              <a:t>- Local product materials: /Users/jfitzer/BuildBuddy/PRESENTATION_OUTLINE.md</a:t>
            </a:r>
          </a:p>
          <a:p xmlns:a="http://schemas.openxmlformats.org/drawingml/2006/main">
            <a:r>
              <a:t>- Demo narration: /Users/jfitzer/BuildBuddy/DEMO_SCRIPT.md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a1f2e347a943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ff3c07b5f540c5" /><Relationship Type="http://schemas.openxmlformats.org/officeDocument/2006/relationships/slideLayout" Target="/ppt/slideLayouts/slideLayout1.xml" Id="R9705c162df2a44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05c162df2a44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298b809dae4ef4" /><Relationship Type="http://schemas.openxmlformats.org/officeDocument/2006/relationships/image" Target="/ppt/media/image.png" Id="Rff457becc33d4bb7" /><Relationship Type="http://schemas.openxmlformats.org/officeDocument/2006/relationships/notesSlide" Target="/ppt/notesSlides/notesSlide1.xml" Id="R34e5bf881c614c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a6141104024a97" /><Relationship Type="http://schemas.openxmlformats.org/officeDocument/2006/relationships/notesSlide" Target="/ppt/notesSlides/notesSlide2.xml" Id="R0e1bf87eab2543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3ab98ea7d248ea" /><Relationship Type="http://schemas.openxmlformats.org/officeDocument/2006/relationships/notesSlide" Target="/ppt/notesSlides/notesSlide3.xml" Id="R80b668140c0241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717446bc924360" /><Relationship Type="http://schemas.openxmlformats.org/officeDocument/2006/relationships/image" Target="/ppt/media/image2.png" Id="R8b34c10225524f28" /><Relationship Type="http://schemas.openxmlformats.org/officeDocument/2006/relationships/notesSlide" Target="/ppt/notesSlides/notesSlide4.xml" Id="R5795189e925c43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c6c614515e4940" /><Relationship Type="http://schemas.openxmlformats.org/officeDocument/2006/relationships/image" Target="/ppt/media/image3.png" Id="R970eb2ce5b4249d3" /><Relationship Type="http://schemas.openxmlformats.org/officeDocument/2006/relationships/notesSlide" Target="/ppt/notesSlides/notesSlide5.xml" Id="Rb76527e5f7c74544" /></Relationships>
</file>

<file path=ppt/slides/slide1.xml><?xml version="1.0" encoding="utf-8"?>
<p:sld xmlns:p="http://schemas.openxmlformats.org/presentationml/2006/main">
  <p:cSld>
    <p:bg>
      <p:bgPr>
        <a:solidFill xmlns:a="http://schemas.openxmlformats.org/drawingml/2006/main">
          <a:srgbClr val="0B0D0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457becc33d4b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scrim">
            <a:extLst xmlns:a="http://schemas.openxmlformats.org/drawingml/2006/main">
              <a:ext uri="{FF2B5EF4-FFF2-40B4-BE49-F238E27FC236}">
                <a16:creationId xmlns:a16="http://schemas.microsoft.com/office/drawing/2014/main" id="{91C00679-BB5F-4733-BA3D-0850393FE63A}"/>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0B0D0C">
              <a:alpha val="84000"/>
            </a:srgbClr>
          </a:solidFill>
          <a:ln xmlns:a="http://schemas.openxmlformats.org/drawingml/2006/main" w="0">
            <a:noFill/>
            <a:prstDash val="solid"/>
          </a:ln>
        </p:spPr>
      </p:sp>
      <p:sp>
        <p:nvSpPr>
          <p:cNvPr id="3" name="title-rail">
            <a:extLst xmlns:a="http://schemas.openxmlformats.org/drawingml/2006/main">
              <a:ext uri="{FF2B5EF4-FFF2-40B4-BE49-F238E27FC236}">
                <a16:creationId xmlns:a16="http://schemas.microsoft.com/office/drawing/2014/main" id="{23903F13-EEB1-47BC-A8A2-7052F729110D}"/>
              </a:ext>
            </a:extLst>
          </p:cNvPr>
          <p:cNvSpPr>
            <a:spLocks xmlns:a="http://schemas.openxmlformats.org/drawingml/2006/main" noGrp="1"/>
          </p:cNvSpPr>
          <p:nvPr/>
        </p:nvSpPr>
        <p:spPr>
          <a:xfrm xmlns:a="http://schemas.openxmlformats.org/drawingml/2006/main">
            <a:off x="685800" y="1466850"/>
            <a:ext cx="76200" cy="2324100"/>
          </a:xfrm>
          <a:prstGeom xmlns:a="http://schemas.openxmlformats.org/drawingml/2006/main" prst="rect">
            <a:avLst/>
          </a:prstGeom>
          <a:solidFill xmlns:a="http://schemas.openxmlformats.org/drawingml/2006/main">
            <a:srgbClr val="C8FF00"/>
          </a:solidFill>
          <a:ln xmlns:a="http://schemas.openxmlformats.org/drawingml/2006/main" w="0">
            <a:noFill/>
            <a:prstDash val="solid"/>
          </a:ln>
        </p:spPr>
      </p:sp>
      <p:sp>
        <p:nvSpPr>
          <p:cNvPr id="4" name="title-eyebrow">
            <a:extLst xmlns:a="http://schemas.openxmlformats.org/drawingml/2006/main">
              <a:ext uri="{FF2B5EF4-FFF2-40B4-BE49-F238E27FC236}">
                <a16:creationId xmlns:a16="http://schemas.microsoft.com/office/drawing/2014/main" id="{095436C4-0D78-460A-B48E-6C54A3A3BED0}"/>
              </a:ext>
            </a:extLst>
          </p:cNvPr>
          <p:cNvSpPr>
            <a:spLocks xmlns:a="http://schemas.openxmlformats.org/drawingml/2006/main" noGrp="1"/>
          </p:cNvSpPr>
          <p:nvPr/>
        </p:nvSpPr>
        <p:spPr>
          <a:xfrm xmlns:a="http://schemas.openxmlformats.org/drawingml/2006/main">
            <a:off x="1009650" y="12001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75" b="1">
                <a:solidFill>
                  <a:srgbClr val="C8FF00"/>
                </a:solidFill>
                <a:latin typeface="Courier New"/>
                <a:ea typeface="Courier New"/>
                <a:cs typeface="Courier New"/>
              </a:defRPr>
            </a:pPr>
            <a:r>
              <a:rPr sz="975" b="1">
                <a:solidFill>
                  <a:srgbClr val="C8FF00"/>
                </a:solidFill>
                <a:latin typeface="Courier New"/>
                <a:ea typeface="Courier New"/>
                <a:cs typeface="Courier New"/>
              </a:rPr>
              <a:t>GARAGE SYSTEMS / BOOT SEQUENCE</a:t>
            </a:r>
          </a:p>
        </p:txBody>
      </p:sp>
      <p:sp>
        <p:nvSpPr>
          <p:cNvPr id="5" name="title">
            <a:extLst xmlns:a="http://schemas.openxmlformats.org/drawingml/2006/main">
              <a:ext uri="{FF2B5EF4-FFF2-40B4-BE49-F238E27FC236}">
                <a16:creationId xmlns:a16="http://schemas.microsoft.com/office/drawing/2014/main" id="{DAB1BE63-6DC1-4472-9C8F-4B5A2A5CAFFF}"/>
              </a:ext>
            </a:extLst>
          </p:cNvPr>
          <p:cNvSpPr>
            <a:spLocks xmlns:a="http://schemas.openxmlformats.org/drawingml/2006/main" noGrp="1"/>
          </p:cNvSpPr>
          <p:nvPr/>
        </p:nvSpPr>
        <p:spPr>
          <a:xfrm xmlns:a="http://schemas.openxmlformats.org/drawingml/2006/main">
            <a:off x="990600" y="1581150"/>
            <a:ext cx="4476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86000"/>
              </a:lnSpc>
              <a:buNone/>
              <a:defRPr sz="4800" b="1">
                <a:solidFill>
                  <a:srgbClr val="F4F1E8"/>
                </a:solidFill>
                <a:latin typeface="Arial Narrow"/>
                <a:ea typeface="Arial Narrow"/>
                <a:cs typeface="Arial Narrow"/>
              </a:defRPr>
            </a:pPr>
            <a:r>
              <a:rPr sz="4800" b="1">
                <a:solidFill>
                  <a:srgbClr val="F4F1E8"/>
                </a:solidFill>
                <a:latin typeface="Arial Narrow"/>
                <a:ea typeface="Arial Narrow"/>
                <a:cs typeface="Arial Narrow"/>
              </a:rPr>
              <a:t>GARAGE</a:t>
            </a:r>
          </a:p>
          <a:p xmlns:a="http://schemas.openxmlformats.org/drawingml/2006/main">
            <a:pPr>
              <a:lnSpc>
                <a:spcPct val="86000"/>
              </a:lnSpc>
              <a:buNone/>
              <a:defRPr sz="4800" b="1">
                <a:solidFill>
                  <a:srgbClr val="F4F1E8"/>
                </a:solidFill>
                <a:latin typeface="Arial Narrow"/>
                <a:ea typeface="Arial Narrow"/>
                <a:cs typeface="Arial Narrow"/>
              </a:defRPr>
            </a:pPr>
            <a:r>
              <a:rPr sz="4800" b="1">
                <a:solidFill>
                  <a:srgbClr val="F4F1E8"/>
                </a:solidFill>
                <a:latin typeface="Arial Narrow"/>
                <a:ea typeface="Arial Narrow"/>
                <a:cs typeface="Arial Narrow"/>
              </a:rPr>
              <a:t>GOBLIN</a:t>
            </a:r>
          </a:p>
        </p:txBody>
      </p:sp>
      <p:sp>
        <p:nvSpPr>
          <p:cNvPr id="6" name="title-subtitle">
            <a:extLst xmlns:a="http://schemas.openxmlformats.org/drawingml/2006/main">
              <a:ext uri="{FF2B5EF4-FFF2-40B4-BE49-F238E27FC236}">
                <a16:creationId xmlns:a16="http://schemas.microsoft.com/office/drawing/2014/main" id="{34D40C2B-F49B-4EF9-8196-8AA139C6C62F}"/>
              </a:ext>
            </a:extLst>
          </p:cNvPr>
          <p:cNvSpPr>
            <a:spLocks xmlns:a="http://schemas.openxmlformats.org/drawingml/2006/main" noGrp="1"/>
          </p:cNvSpPr>
          <p:nvPr/>
        </p:nvSpPr>
        <p:spPr>
          <a:xfrm xmlns:a="http://schemas.openxmlformats.org/drawingml/2006/main">
            <a:off x="1028700" y="3276600"/>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108000"/>
              </a:lnSpc>
              <a:buNone/>
              <a:defRPr sz="1650">
                <a:solidFill>
                  <a:srgbClr val="F4F1E8"/>
                </a:solidFill>
                <a:latin typeface="Aptos"/>
                <a:ea typeface="Aptos"/>
                <a:cs typeface="Aptos"/>
              </a:defRPr>
            </a:pPr>
            <a:r>
              <a:rPr sz="1650">
                <a:solidFill>
                  <a:srgbClr val="F4F1E8"/>
                </a:solidFill>
                <a:latin typeface="Aptos"/>
                <a:ea typeface="Aptos"/>
                <a:cs typeface="Aptos"/>
              </a:rPr>
              <a:t>A manual-first AI copilot for people building gloriously excessive cars.</a:t>
            </a:r>
          </a:p>
        </p:txBody>
      </p:sp>
      <p:sp>
        <p:nvSpPr>
          <p:cNvPr id="7" name="title-rule">
            <a:extLst xmlns:a="http://schemas.openxmlformats.org/drawingml/2006/main">
              <a:ext uri="{FF2B5EF4-FFF2-40B4-BE49-F238E27FC236}">
                <a16:creationId xmlns:a16="http://schemas.microsoft.com/office/drawing/2014/main" id="{0FE16B87-C1D6-41C3-8F17-BB5D805C1647}"/>
              </a:ext>
            </a:extLst>
          </p:cNvPr>
          <p:cNvSpPr>
            <a:spLocks xmlns:a="http://schemas.openxmlformats.org/drawingml/2006/main" noGrp="1"/>
          </p:cNvSpPr>
          <p:nvPr/>
        </p:nvSpPr>
        <p:spPr>
          <a:xfrm xmlns:a="http://schemas.openxmlformats.org/drawingml/2006/main">
            <a:off x="1028700" y="4210050"/>
            <a:ext cx="2381250" cy="0"/>
          </a:xfrm>
          <a:prstGeom xmlns:a="http://schemas.openxmlformats.org/drawingml/2006/main" prst="line">
            <a:avLst/>
          </a:prstGeom>
          <a:noFill xmlns:a="http://schemas.openxmlformats.org/drawingml/2006/main"/>
          <a:ln xmlns:a="http://schemas.openxmlformats.org/drawingml/2006/main" w="28575">
            <a:solidFill>
              <a:srgbClr val="C8FF00"/>
            </a:solidFill>
            <a:prstDash val="solid"/>
          </a:ln>
        </p:spPr>
      </p:sp>
      <p:sp>
        <p:nvSpPr>
          <p:cNvPr id="8" name="title-context">
            <a:extLst xmlns:a="http://schemas.openxmlformats.org/drawingml/2006/main">
              <a:ext uri="{FF2B5EF4-FFF2-40B4-BE49-F238E27FC236}">
                <a16:creationId xmlns:a16="http://schemas.microsoft.com/office/drawing/2014/main" id="{1E747BDC-E911-4B6C-BCB7-42F307698A18}"/>
              </a:ext>
            </a:extLst>
          </p:cNvPr>
          <p:cNvSpPr>
            <a:spLocks xmlns:a="http://schemas.openxmlformats.org/drawingml/2006/main" noGrp="1"/>
          </p:cNvSpPr>
          <p:nvPr/>
        </p:nvSpPr>
        <p:spPr>
          <a:xfrm xmlns:a="http://schemas.openxmlformats.org/drawingml/2006/main">
            <a:off x="1028700" y="4419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275">
                <a:solidFill>
                  <a:srgbClr val="A7ABA1"/>
                </a:solidFill>
                <a:latin typeface="Courier New"/>
                <a:ea typeface="Courier New"/>
                <a:cs typeface="Courier New"/>
              </a:defRPr>
            </a:pPr>
            <a:r>
              <a:rPr sz="1275">
                <a:solidFill>
                  <a:srgbClr val="A7ABA1"/>
                </a:solidFill>
                <a:latin typeface="Courier New"/>
                <a:ea typeface="Courier New"/>
                <a:cs typeface="Courier New"/>
              </a:rPr>
              <a:t>Factory Five Mk5 Roadster proof of concept</a:t>
            </a:r>
          </a:p>
        </p:txBody>
      </p:sp>
      <p:sp>
        <p:nvSpPr>
          <p:cNvPr id="9" name="title-whisper">
            <a:extLst xmlns:a="http://schemas.openxmlformats.org/drawingml/2006/main">
              <a:ext uri="{FF2B5EF4-FFF2-40B4-BE49-F238E27FC236}">
                <a16:creationId xmlns:a16="http://schemas.microsoft.com/office/drawing/2014/main" id="{D9A6D57D-BB8F-4B78-8B74-B58F1AA202B1}"/>
              </a:ext>
            </a:extLst>
          </p:cNvPr>
          <p:cNvSpPr>
            <a:spLocks xmlns:a="http://schemas.openxmlformats.org/drawingml/2006/main" noGrp="1"/>
          </p:cNvSpPr>
          <p:nvPr/>
        </p:nvSpPr>
        <p:spPr>
          <a:xfrm xmlns:a="http://schemas.openxmlformats.org/drawingml/2006/main">
            <a:off x="1028700" y="54483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105000"/>
              </a:lnSpc>
              <a:buNone/>
              <a:defRPr sz="1125" i="1">
                <a:solidFill>
                  <a:srgbClr val="A7ABA1"/>
                </a:solidFill>
                <a:latin typeface="Aptos"/>
                <a:ea typeface="Aptos"/>
                <a:cs typeface="Aptos"/>
              </a:defRPr>
            </a:pPr>
            <a:r>
              <a:rPr sz="1125" i="1">
                <a:solidFill>
                  <a:srgbClr val="A7ABA1"/>
                </a:solidFill>
                <a:latin typeface="Aptos"/>
                <a:ea typeface="Aptos"/>
                <a:cs typeface="Aptos"/>
              </a:rPr>
              <a:t>500 horsepower. 2,500 pounds.</a:t>
            </a:r>
          </a:p>
          <a:p xmlns:a="http://schemas.openxmlformats.org/drawingml/2006/main">
            <a:pPr>
              <a:lnSpc>
                <a:spcPct val="105000"/>
              </a:lnSpc>
              <a:buNone/>
              <a:defRPr sz="1125" i="1">
                <a:solidFill>
                  <a:srgbClr val="A7ABA1"/>
                </a:solidFill>
                <a:latin typeface="Aptos"/>
                <a:ea typeface="Aptos"/>
                <a:cs typeface="Aptos"/>
              </a:defRPr>
            </a:pPr>
            <a:r>
              <a:rPr sz="1125" i="1">
                <a:solidFill>
                  <a:srgbClr val="A7ABA1"/>
                </a:solidFill>
                <a:latin typeface="Aptos"/>
                <a:ea typeface="Aptos"/>
                <a:cs typeface="Aptos"/>
              </a:rPr>
              <a:t>A lot of documentation.</a:t>
            </a:r>
          </a:p>
        </p:txBody>
      </p:sp>
      <p:sp>
        <p:nvSpPr>
          <p:cNvPr id="10" name="page-1">
            <a:extLst xmlns:a="http://schemas.openxmlformats.org/drawingml/2006/main">
              <a:ext uri="{FF2B5EF4-FFF2-40B4-BE49-F238E27FC236}">
                <a16:creationId xmlns:a16="http://schemas.microsoft.com/office/drawing/2014/main" id="{138CD23A-3B7B-47A2-9873-AF73E97B9F6F}"/>
              </a:ext>
            </a:extLst>
          </p:cNvPr>
          <p:cNvSpPr>
            <a:spLocks xmlns:a="http://schemas.openxmlformats.org/drawingml/2006/main" noGrp="1"/>
          </p:cNvSpPr>
          <p:nvPr/>
        </p:nvSpPr>
        <p:spPr>
          <a:xfrm xmlns:a="http://schemas.openxmlformats.org/drawingml/2006/main">
            <a:off x="10839450" y="6362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01 / 05</a:t>
            </a:r>
          </a:p>
        </p:txBody>
      </p:sp>
    </p:spTree>
    <p:extLst>
      <p:ext uri="{BB962C8B-B14F-4D97-AF65-F5344CB8AC3E}">
        <p14:creationId xmlns:p14="http://schemas.microsoft.com/office/powerpoint/2010/main" val="911668984"/>
      </p:ext>
    </p:extLst>
  </p:cSld>
</p:sld>
</file>

<file path=ppt/slides/slide2.xml><?xml version="1.0" encoding="utf-8"?>
<p:sld xmlns:p="http://schemas.openxmlformats.org/presentationml/2006/main">
  <p:cSld>
    <p:bg>
      <p:bgPr>
        <a:solidFill xmlns:a="http://schemas.openxmlformats.org/drawingml/2006/main">
          <a:srgbClr val="0B0D0C"/>
        </a:solidFill>
      </p:bgPr>
    </p:bg>
    <p:spTree>
      <p:nvGrpSpPr>
        <p:cNvPr id="1" name=""/>
        <p:cNvGrpSpPr/>
        <p:nvPr/>
      </p:nvGrpSpPr>
      <p:grpSpPr>
        <a:xfrm xmlns:a="http://schemas.openxmlformats.org/drawingml/2006/main"/>
      </p:grpSpPr>
      <p:sp>
        <p:nvSpPr>
          <p:cNvPr id="28" name="s2-eyebrow">
            <a:extLst xmlns:a="http://schemas.openxmlformats.org/drawingml/2006/main">
              <a:ext uri="{FF2B5EF4-FFF2-40B4-BE49-F238E27FC236}">
                <a16:creationId xmlns:a16="http://schemas.microsoft.com/office/drawing/2014/main" id="{6ECF37DC-59A0-40CA-B825-45B39AEE3AB7}"/>
              </a:ext>
            </a:extLst>
          </p:cNvPr>
          <p:cNvSpPr>
            <a:spLocks xmlns:a="http://schemas.openxmlformats.org/drawingml/2006/main" noGrp="1"/>
          </p:cNvSpPr>
          <p:nvPr/>
        </p:nvSpPr>
        <p:spPr>
          <a:xfrm xmlns:a="http://schemas.openxmlformats.org/drawingml/2006/main">
            <a:off x="685800" y="5143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75" b="1">
                <a:solidFill>
                  <a:srgbClr val="C8FF00"/>
                </a:solidFill>
                <a:latin typeface="Courier New"/>
                <a:ea typeface="Courier New"/>
                <a:cs typeface="Courier New"/>
              </a:defRPr>
            </a:pPr>
            <a:r>
              <a:rPr sz="975" b="1">
                <a:solidFill>
                  <a:srgbClr val="C8FF00"/>
                </a:solidFill>
                <a:latin typeface="Courier New"/>
                <a:ea typeface="Courier New"/>
                <a:cs typeface="Courier New"/>
              </a:rPr>
              <a:t>THE BUILDER’S REAL PROBLEM</a:t>
            </a:r>
          </a:p>
        </p:txBody>
      </p:sp>
      <p:sp>
        <p:nvSpPr>
          <p:cNvPr id="2" name="s2-title">
            <a:extLst xmlns:a="http://schemas.openxmlformats.org/drawingml/2006/main">
              <a:ext uri="{FF2B5EF4-FFF2-40B4-BE49-F238E27FC236}">
                <a16:creationId xmlns:a16="http://schemas.microsoft.com/office/drawing/2014/main" id="{76008FFF-28FD-43DD-89F8-997DB756D24E}"/>
              </a:ext>
            </a:extLst>
          </p:cNvPr>
          <p:cNvSpPr>
            <a:spLocks xmlns:a="http://schemas.openxmlformats.org/drawingml/2006/main" noGrp="1"/>
          </p:cNvSpPr>
          <p:nvPr/>
        </p:nvSpPr>
        <p:spPr>
          <a:xfrm xmlns:a="http://schemas.openxmlformats.org/drawingml/2006/main">
            <a:off x="685800" y="952500"/>
            <a:ext cx="590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95000"/>
              </a:lnSpc>
              <a:buNone/>
              <a:defRPr sz="2850" b="1">
                <a:solidFill>
                  <a:srgbClr val="F4F1E8"/>
                </a:solidFill>
                <a:latin typeface="Arial Narrow"/>
                <a:ea typeface="Arial Narrow"/>
                <a:cs typeface="Arial Narrow"/>
              </a:defRPr>
            </a:pPr>
            <a:r>
              <a:rPr sz="2850" b="1">
                <a:solidFill>
                  <a:srgbClr val="F4F1E8"/>
                </a:solidFill>
                <a:latin typeface="Arial Narrow"/>
                <a:ea typeface="Arial Narrow"/>
                <a:cs typeface="Arial Narrow"/>
              </a:rPr>
              <a:t>The hard part is not finding an answer.</a:t>
            </a:r>
          </a:p>
          <a:p xmlns:a="http://schemas.openxmlformats.org/drawingml/2006/main">
            <a:pPr>
              <a:lnSpc>
                <a:spcPct val="95000"/>
              </a:lnSpc>
              <a:buNone/>
              <a:defRPr sz="2850" b="1">
                <a:solidFill>
                  <a:srgbClr val="F4F1E8"/>
                </a:solidFill>
                <a:latin typeface="Arial Narrow"/>
                <a:ea typeface="Arial Narrow"/>
                <a:cs typeface="Arial Narrow"/>
              </a:defRPr>
            </a:pPr>
            <a:r>
              <a:rPr sz="2850" b="1">
                <a:solidFill>
                  <a:srgbClr val="F4F1E8"/>
                </a:solidFill>
                <a:latin typeface="Arial Narrow"/>
                <a:ea typeface="Arial Narrow"/>
                <a:cs typeface="Arial Narrow"/>
              </a:rPr>
              <a:t>It is finding the right answer for this exact build.</a:t>
            </a:r>
          </a:p>
        </p:txBody>
      </p:sp>
      <p:sp>
        <p:nvSpPr>
          <p:cNvPr id="3" name="s2-bullet-1-dot">
            <a:extLst xmlns:a="http://schemas.openxmlformats.org/drawingml/2006/main">
              <a:ext uri="{FF2B5EF4-FFF2-40B4-BE49-F238E27FC236}">
                <a16:creationId xmlns:a16="http://schemas.microsoft.com/office/drawing/2014/main" id="{7004A796-A03F-4D64-997C-792A40ECAD85}"/>
              </a:ext>
            </a:extLst>
          </p:cNvPr>
          <p:cNvSpPr>
            <a:spLocks xmlns:a="http://schemas.openxmlformats.org/drawingml/2006/main" noGrp="1"/>
          </p:cNvSpPr>
          <p:nvPr/>
        </p:nvSpPr>
        <p:spPr>
          <a:xfrm xmlns:a="http://schemas.openxmlformats.org/drawingml/2006/main">
            <a:off x="685800" y="27241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4" name="s2-bullet-1">
            <a:extLst xmlns:a="http://schemas.openxmlformats.org/drawingml/2006/main">
              <a:ext uri="{FF2B5EF4-FFF2-40B4-BE49-F238E27FC236}">
                <a16:creationId xmlns:a16="http://schemas.microsoft.com/office/drawing/2014/main" id="{4768DCC9-DACF-45C7-BDAD-596B7C8C81E9}"/>
              </a:ext>
            </a:extLst>
          </p:cNvPr>
          <p:cNvSpPr>
            <a:spLocks xmlns:a="http://schemas.openxmlformats.org/drawingml/2006/main" noGrp="1"/>
          </p:cNvSpPr>
          <p:nvPr/>
        </p:nvSpPr>
        <p:spPr>
          <a:xfrm xmlns:a="http://schemas.openxmlformats.org/drawingml/2006/main">
            <a:off x="990600" y="2724150"/>
            <a:ext cx="5029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500-page build manual</a:t>
            </a:r>
          </a:p>
        </p:txBody>
      </p:sp>
      <p:sp>
        <p:nvSpPr>
          <p:cNvPr id="5" name="s2-bullet-2-dot">
            <a:extLst xmlns:a="http://schemas.openxmlformats.org/drawingml/2006/main">
              <a:ext uri="{FF2B5EF4-FFF2-40B4-BE49-F238E27FC236}">
                <a16:creationId xmlns:a16="http://schemas.microsoft.com/office/drawing/2014/main" id="{CE59BDF6-7247-4DA4-B2CE-FA378F66CB10}"/>
              </a:ext>
            </a:extLst>
          </p:cNvPr>
          <p:cNvSpPr>
            <a:spLocks xmlns:a="http://schemas.openxmlformats.org/drawingml/2006/main" noGrp="1"/>
          </p:cNvSpPr>
          <p:nvPr/>
        </p:nvSpPr>
        <p:spPr>
          <a:xfrm xmlns:a="http://schemas.openxmlformats.org/drawingml/2006/main">
            <a:off x="685800" y="3257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6" name="s2-bullet-2">
            <a:extLst xmlns:a="http://schemas.openxmlformats.org/drawingml/2006/main">
              <a:ext uri="{FF2B5EF4-FFF2-40B4-BE49-F238E27FC236}">
                <a16:creationId xmlns:a16="http://schemas.microsoft.com/office/drawing/2014/main" id="{552DB6EF-6F82-45F0-9AF6-D09484B24386}"/>
              </a:ext>
            </a:extLst>
          </p:cNvPr>
          <p:cNvSpPr>
            <a:spLocks xmlns:a="http://schemas.openxmlformats.org/drawingml/2006/main" noGrp="1"/>
          </p:cNvSpPr>
          <p:nvPr/>
        </p:nvSpPr>
        <p:spPr>
          <a:xfrm xmlns:a="http://schemas.openxmlformats.org/drawingml/2006/main">
            <a:off x="990600" y="3257550"/>
            <a:ext cx="5029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Vendor instructions and aftermarket parts</a:t>
            </a:r>
          </a:p>
        </p:txBody>
      </p:sp>
      <p:sp>
        <p:nvSpPr>
          <p:cNvPr id="7" name="s2-bullet-3-dot">
            <a:extLst xmlns:a="http://schemas.openxmlformats.org/drawingml/2006/main">
              <a:ext uri="{FF2B5EF4-FFF2-40B4-BE49-F238E27FC236}">
                <a16:creationId xmlns:a16="http://schemas.microsoft.com/office/drawing/2014/main" id="{4913F71B-2CD3-4DBE-A0D9-A53F1C7581D0}"/>
              </a:ext>
            </a:extLst>
          </p:cNvPr>
          <p:cNvSpPr>
            <a:spLocks xmlns:a="http://schemas.openxmlformats.org/drawingml/2006/main" noGrp="1"/>
          </p:cNvSpPr>
          <p:nvPr/>
        </p:nvSpPr>
        <p:spPr>
          <a:xfrm xmlns:a="http://schemas.openxmlformats.org/drawingml/2006/main">
            <a:off x="685800" y="37909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8" name="s2-bullet-3">
            <a:extLst xmlns:a="http://schemas.openxmlformats.org/drawingml/2006/main">
              <a:ext uri="{FF2B5EF4-FFF2-40B4-BE49-F238E27FC236}">
                <a16:creationId xmlns:a16="http://schemas.microsoft.com/office/drawing/2014/main" id="{F2C39D6A-515C-4655-BDBD-4C7A4ED1BA72}"/>
              </a:ext>
            </a:extLst>
          </p:cNvPr>
          <p:cNvSpPr>
            <a:spLocks xmlns:a="http://schemas.openxmlformats.org/drawingml/2006/main" noGrp="1"/>
          </p:cNvSpPr>
          <p:nvPr/>
        </p:nvSpPr>
        <p:spPr>
          <a:xfrm xmlns:a="http://schemas.openxmlformats.org/drawingml/2006/main">
            <a:off x="990600" y="3790950"/>
            <a:ext cx="5029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Mixed components and changing decisions</a:t>
            </a:r>
          </a:p>
        </p:txBody>
      </p:sp>
      <p:sp>
        <p:nvSpPr>
          <p:cNvPr id="9" name="s2-bullet-4-dot">
            <a:extLst xmlns:a="http://schemas.openxmlformats.org/drawingml/2006/main">
              <a:ext uri="{FF2B5EF4-FFF2-40B4-BE49-F238E27FC236}">
                <a16:creationId xmlns:a16="http://schemas.microsoft.com/office/drawing/2014/main" id="{228A1AFC-1F5E-4E60-A2C5-D4CEF7C477BA}"/>
              </a:ext>
            </a:extLst>
          </p:cNvPr>
          <p:cNvSpPr>
            <a:spLocks xmlns:a="http://schemas.openxmlformats.org/drawingml/2006/main" noGrp="1"/>
          </p:cNvSpPr>
          <p:nvPr/>
        </p:nvSpPr>
        <p:spPr>
          <a:xfrm xmlns:a="http://schemas.openxmlformats.org/drawingml/2006/main">
            <a:off x="685800" y="43243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0" name="s2-bullet-4">
            <a:extLst xmlns:a="http://schemas.openxmlformats.org/drawingml/2006/main">
              <a:ext uri="{FF2B5EF4-FFF2-40B4-BE49-F238E27FC236}">
                <a16:creationId xmlns:a16="http://schemas.microsoft.com/office/drawing/2014/main" id="{F6DEF4EC-8314-422E-8C38-50DA8586EB2B}"/>
              </a:ext>
            </a:extLst>
          </p:cNvPr>
          <p:cNvSpPr>
            <a:spLocks xmlns:a="http://schemas.openxmlformats.org/drawingml/2006/main" noGrp="1"/>
          </p:cNvSpPr>
          <p:nvPr/>
        </p:nvSpPr>
        <p:spPr>
          <a:xfrm xmlns:a="http://schemas.openxmlformats.org/drawingml/2006/main">
            <a:off x="990600" y="4324350"/>
            <a:ext cx="5029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Forum wisdom that may be useful—or confidently wrong</a:t>
            </a:r>
          </a:p>
        </p:txBody>
      </p:sp>
      <p:sp>
        <p:nvSpPr>
          <p:cNvPr id="11" name="s2-takeaway">
            <a:extLst xmlns:a="http://schemas.openxmlformats.org/drawingml/2006/main">
              <a:ext uri="{FF2B5EF4-FFF2-40B4-BE49-F238E27FC236}">
                <a16:creationId xmlns:a16="http://schemas.microsoft.com/office/drawing/2014/main" id="{F0FD20DA-A202-4B11-B6F0-5DA38157BBE2}"/>
              </a:ext>
            </a:extLst>
          </p:cNvPr>
          <p:cNvSpPr>
            <a:spLocks xmlns:a="http://schemas.openxmlformats.org/drawingml/2006/main" noGrp="1"/>
          </p:cNvSpPr>
          <p:nvPr/>
        </p:nvSpPr>
        <p:spPr>
          <a:xfrm xmlns:a="http://schemas.openxmlformats.org/drawingml/2006/main">
            <a:off x="685800" y="55626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350" i="1">
                <a:solidFill>
                  <a:srgbClr val="E66D3A"/>
                </a:solidFill>
                <a:latin typeface="Aptos"/>
                <a:ea typeface="Aptos"/>
                <a:cs typeface="Aptos"/>
              </a:defRPr>
            </a:pPr>
            <a:r>
              <a:rPr sz="1350" i="1">
                <a:solidFill>
                  <a:srgbClr val="E66D3A"/>
                </a:solidFill>
                <a:latin typeface="Aptos"/>
                <a:ea typeface="Aptos"/>
                <a:cs typeface="Aptos"/>
              </a:rPr>
              <a:t>The cost of a bad answer is rework, delay, or a safety risk.</a:t>
            </a:r>
          </a:p>
        </p:txBody>
      </p:sp>
      <p:sp>
        <p:nvSpPr>
          <p:cNvPr id="12" name="s2-rail">
            <a:extLst xmlns:a="http://schemas.openxmlformats.org/drawingml/2006/main">
              <a:ext uri="{FF2B5EF4-FFF2-40B4-BE49-F238E27FC236}">
                <a16:creationId xmlns:a16="http://schemas.microsoft.com/office/drawing/2014/main" id="{C78945B3-548C-4576-94C2-623ED41BF508}"/>
              </a:ext>
            </a:extLst>
          </p:cNvPr>
          <p:cNvSpPr>
            <a:spLocks xmlns:a="http://schemas.openxmlformats.org/drawingml/2006/main" noGrp="1"/>
          </p:cNvSpPr>
          <p:nvPr/>
        </p:nvSpPr>
        <p:spPr>
          <a:xfrm xmlns:a="http://schemas.openxmlformats.org/drawingml/2006/main">
            <a:off x="685800" y="5238750"/>
            <a:ext cx="4953000" cy="0"/>
          </a:xfrm>
          <a:prstGeom xmlns:a="http://schemas.openxmlformats.org/drawingml/2006/main" prst="line">
            <a:avLst/>
          </a:prstGeom>
          <a:noFill xmlns:a="http://schemas.openxmlformats.org/drawingml/2006/main"/>
          <a:ln xmlns:a="http://schemas.openxmlformats.org/drawingml/2006/main" w="9525">
            <a:solidFill>
              <a:srgbClr val="374031"/>
            </a:solidFill>
            <a:prstDash val="solid"/>
          </a:ln>
        </p:spPr>
      </p:sp>
      <p:sp>
        <p:nvSpPr>
          <p:cNvPr id="13" name="s2-workbench">
            <a:extLst xmlns:a="http://schemas.openxmlformats.org/drawingml/2006/main">
              <a:ext uri="{FF2B5EF4-FFF2-40B4-BE49-F238E27FC236}">
                <a16:creationId xmlns:a16="http://schemas.microsoft.com/office/drawing/2014/main" id="{4364227A-AB8F-48FC-BAF1-F59424E502E0}"/>
              </a:ext>
            </a:extLst>
          </p:cNvPr>
          <p:cNvSpPr>
            <a:spLocks xmlns:a="http://schemas.openxmlformats.org/drawingml/2006/main" noGrp="1"/>
          </p:cNvSpPr>
          <p:nvPr/>
        </p:nvSpPr>
        <p:spPr>
          <a:xfrm xmlns:a="http://schemas.openxmlformats.org/drawingml/2006/main">
            <a:off x="7162800" y="1238250"/>
            <a:ext cx="3714750" cy="4095750"/>
          </a:xfrm>
          <a:prstGeom xmlns:a="http://schemas.openxmlformats.org/drawingml/2006/main" prst="roundRect">
            <a:avLst>
              <a:gd name="adj" fmla="val 2051"/>
            </a:avLst>
          </a:prstGeom>
          <a:solidFill xmlns:a="http://schemas.openxmlformats.org/drawingml/2006/main">
            <a:srgbClr val="151916"/>
          </a:solidFill>
          <a:ln xmlns:a="http://schemas.openxmlformats.org/drawingml/2006/main" w="9525">
            <a:solidFill>
              <a:srgbClr val="374031"/>
            </a:solidFill>
            <a:prstDash val="solid"/>
          </a:ln>
        </p:spPr>
      </p:sp>
      <p:sp>
        <p:nvSpPr>
          <p:cNvPr id="14" name="s2-paper-manual">
            <a:extLst xmlns:a="http://schemas.openxmlformats.org/drawingml/2006/main">
              <a:ext uri="{FF2B5EF4-FFF2-40B4-BE49-F238E27FC236}">
                <a16:creationId xmlns:a16="http://schemas.microsoft.com/office/drawing/2014/main" id="{0FBE71DA-1500-4234-B5E0-8FD594D20BC4}"/>
              </a:ext>
            </a:extLst>
          </p:cNvPr>
          <p:cNvSpPr>
            <a:spLocks xmlns:a="http://schemas.openxmlformats.org/drawingml/2006/main" noGrp="1"/>
          </p:cNvSpPr>
          <p:nvPr/>
        </p:nvSpPr>
        <p:spPr>
          <a:xfrm xmlns:a="http://schemas.openxmlformats.org/drawingml/2006/main">
            <a:off x="7448550" y="1524000"/>
            <a:ext cx="2952750" cy="876300"/>
          </a:xfrm>
          <a:prstGeom xmlns:a="http://schemas.openxmlformats.org/drawingml/2006/main" prst="rect">
            <a:avLst/>
          </a:prstGeom>
          <a:solidFill xmlns:a="http://schemas.openxmlformats.org/drawingml/2006/main">
            <a:srgbClr val="E8E3D7"/>
          </a:solidFill>
          <a:ln xmlns:a="http://schemas.openxmlformats.org/drawingml/2006/main" w="0">
            <a:solidFill>
              <a:srgbClr val="E8E3D7"/>
            </a:solidFill>
            <a:prstDash val="solid"/>
          </a:ln>
        </p:spPr>
      </p:sp>
      <p:sp>
        <p:nvSpPr>
          <p:cNvPr id="15" name="s2-paper-manual-label">
            <a:extLst xmlns:a="http://schemas.openxmlformats.org/drawingml/2006/main">
              <a:ext uri="{FF2B5EF4-FFF2-40B4-BE49-F238E27FC236}">
                <a16:creationId xmlns:a16="http://schemas.microsoft.com/office/drawing/2014/main" id="{22798B47-BC1D-4E87-AD5D-CE33EEB8D858}"/>
              </a:ext>
            </a:extLst>
          </p:cNvPr>
          <p:cNvSpPr>
            <a:spLocks xmlns:a="http://schemas.openxmlformats.org/drawingml/2006/main" noGrp="1"/>
          </p:cNvSpPr>
          <p:nvPr/>
        </p:nvSpPr>
        <p:spPr>
          <a:xfrm xmlns:a="http://schemas.openxmlformats.org/drawingml/2006/main">
            <a:off x="7677150" y="1781175"/>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275" b="1">
                <a:solidFill>
                  <a:srgbClr val="12150F"/>
                </a:solidFill>
                <a:latin typeface="Courier New"/>
                <a:ea typeface="Courier New"/>
                <a:cs typeface="Courier New"/>
              </a:defRPr>
            </a:pPr>
            <a:r>
              <a:rPr sz="1275" b="1">
                <a:solidFill>
                  <a:srgbClr val="12150F"/>
                </a:solidFill>
                <a:latin typeface="Courier New"/>
                <a:ea typeface="Courier New"/>
                <a:cs typeface="Courier New"/>
              </a:rPr>
              <a:t>500-PAGE BUILD MANUAL</a:t>
            </a:r>
          </a:p>
        </p:txBody>
      </p:sp>
      <p:sp>
        <p:nvSpPr>
          <p:cNvPr id="16" name="s2-paper-manual-sub">
            <a:extLst xmlns:a="http://schemas.openxmlformats.org/drawingml/2006/main">
              <a:ext uri="{FF2B5EF4-FFF2-40B4-BE49-F238E27FC236}">
                <a16:creationId xmlns:a16="http://schemas.microsoft.com/office/drawing/2014/main" id="{263B7A8D-A219-4619-A0F0-1EA09935E2A4}"/>
              </a:ext>
            </a:extLst>
          </p:cNvPr>
          <p:cNvSpPr>
            <a:spLocks xmlns:a="http://schemas.openxmlformats.org/drawingml/2006/main" noGrp="1"/>
          </p:cNvSpPr>
          <p:nvPr/>
        </p:nvSpPr>
        <p:spPr>
          <a:xfrm xmlns:a="http://schemas.openxmlformats.org/drawingml/2006/main">
            <a:off x="7677150" y="209550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a:solidFill>
                  <a:srgbClr val="4F554A"/>
                </a:solidFill>
                <a:latin typeface="Courier New"/>
                <a:ea typeface="Courier New"/>
                <a:cs typeface="Courier New"/>
              </a:defRPr>
            </a:pPr>
            <a:r>
              <a:rPr sz="900">
                <a:solidFill>
                  <a:srgbClr val="4F554A"/>
                </a:solidFill>
                <a:latin typeface="Courier New"/>
                <a:ea typeface="Courier New"/>
                <a:cs typeface="Courier New"/>
              </a:rPr>
              <a:t>assembly / torque / sequence</a:t>
            </a:r>
          </a:p>
        </p:txBody>
      </p:sp>
      <p:sp>
        <p:nvSpPr>
          <p:cNvPr id="17" name="s2-paper-vendor">
            <a:extLst xmlns:a="http://schemas.openxmlformats.org/drawingml/2006/main">
              <a:ext uri="{FF2B5EF4-FFF2-40B4-BE49-F238E27FC236}">
                <a16:creationId xmlns:a16="http://schemas.microsoft.com/office/drawing/2014/main" id="{C2AF0695-EA8F-49C8-B78B-412EA50298D6}"/>
              </a:ext>
            </a:extLst>
          </p:cNvPr>
          <p:cNvSpPr>
            <a:spLocks xmlns:a="http://schemas.openxmlformats.org/drawingml/2006/main" noGrp="1"/>
          </p:cNvSpPr>
          <p:nvPr/>
        </p:nvSpPr>
        <p:spPr>
          <a:xfrm xmlns:a="http://schemas.openxmlformats.org/drawingml/2006/main">
            <a:off x="7791450" y="2400300"/>
            <a:ext cx="2914650" cy="819150"/>
          </a:xfrm>
          <a:prstGeom xmlns:a="http://schemas.openxmlformats.org/drawingml/2006/main" prst="rect">
            <a:avLst/>
          </a:prstGeom>
          <a:solidFill xmlns:a="http://schemas.openxmlformats.org/drawingml/2006/main">
            <a:srgbClr val="B5BDAD"/>
          </a:solidFill>
          <a:ln xmlns:a="http://schemas.openxmlformats.org/drawingml/2006/main" w="0">
            <a:solidFill>
              <a:srgbClr val="B5BDAD"/>
            </a:solidFill>
            <a:prstDash val="solid"/>
          </a:ln>
        </p:spPr>
      </p:sp>
      <p:sp>
        <p:nvSpPr>
          <p:cNvPr id="18" name="s2-paper-vendor-label">
            <a:extLst xmlns:a="http://schemas.openxmlformats.org/drawingml/2006/main">
              <a:ext uri="{FF2B5EF4-FFF2-40B4-BE49-F238E27FC236}">
                <a16:creationId xmlns:a16="http://schemas.microsoft.com/office/drawing/2014/main" id="{8FE2F2B7-3CA8-4B56-92C8-579644442705}"/>
              </a:ext>
            </a:extLst>
          </p:cNvPr>
          <p:cNvSpPr>
            <a:spLocks xmlns:a="http://schemas.openxmlformats.org/drawingml/2006/main" noGrp="1"/>
          </p:cNvSpPr>
          <p:nvPr/>
        </p:nvSpPr>
        <p:spPr>
          <a:xfrm xmlns:a="http://schemas.openxmlformats.org/drawingml/2006/main">
            <a:off x="8020050" y="2647950"/>
            <a:ext cx="2305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200" b="1">
                <a:solidFill>
                  <a:srgbClr val="12150F"/>
                </a:solidFill>
                <a:latin typeface="Courier New"/>
                <a:ea typeface="Courier New"/>
                <a:cs typeface="Courier New"/>
              </a:defRPr>
            </a:pPr>
            <a:r>
              <a:rPr sz="1200" b="1">
                <a:solidFill>
                  <a:srgbClr val="12150F"/>
                </a:solidFill>
                <a:latin typeface="Courier New"/>
                <a:ea typeface="Courier New"/>
                <a:cs typeface="Courier New"/>
              </a:rPr>
              <a:t>VENDOR INSTRUCTIONS</a:t>
            </a:r>
          </a:p>
        </p:txBody>
      </p:sp>
      <p:sp>
        <p:nvSpPr>
          <p:cNvPr id="19" name="s2-paper-vendor-sub">
            <a:extLst xmlns:a="http://schemas.openxmlformats.org/drawingml/2006/main">
              <a:ext uri="{FF2B5EF4-FFF2-40B4-BE49-F238E27FC236}">
                <a16:creationId xmlns:a16="http://schemas.microsoft.com/office/drawing/2014/main" id="{9D31776C-8526-40EB-8436-BCD3D34D72FD}"/>
              </a:ext>
            </a:extLst>
          </p:cNvPr>
          <p:cNvSpPr>
            <a:spLocks xmlns:a="http://schemas.openxmlformats.org/drawingml/2006/main" noGrp="1"/>
          </p:cNvSpPr>
          <p:nvPr/>
        </p:nvSpPr>
        <p:spPr>
          <a:xfrm xmlns:a="http://schemas.openxmlformats.org/drawingml/2006/main">
            <a:off x="8020050" y="29432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a:solidFill>
                  <a:srgbClr val="4F554A"/>
                </a:solidFill>
                <a:latin typeface="Courier New"/>
                <a:ea typeface="Courier New"/>
                <a:cs typeface="Courier New"/>
              </a:defRPr>
            </a:pPr>
            <a:r>
              <a:rPr sz="900">
                <a:solidFill>
                  <a:srgbClr val="4F554A"/>
                </a:solidFill>
                <a:latin typeface="Courier New"/>
                <a:ea typeface="Courier New"/>
                <a:cs typeface="Courier New"/>
              </a:rPr>
              <a:t>component-specific / easy to miss</a:t>
            </a:r>
          </a:p>
        </p:txBody>
      </p:sp>
      <p:sp>
        <p:nvSpPr>
          <p:cNvPr id="20" name="s2-paper-forum">
            <a:extLst xmlns:a="http://schemas.openxmlformats.org/drawingml/2006/main">
              <a:ext uri="{FF2B5EF4-FFF2-40B4-BE49-F238E27FC236}">
                <a16:creationId xmlns:a16="http://schemas.microsoft.com/office/drawing/2014/main" id="{CE209AC7-B601-45D8-B363-5B1A6A17B022}"/>
              </a:ext>
            </a:extLst>
          </p:cNvPr>
          <p:cNvSpPr>
            <a:spLocks xmlns:a="http://schemas.openxmlformats.org/drawingml/2006/main" noGrp="1"/>
          </p:cNvSpPr>
          <p:nvPr/>
        </p:nvSpPr>
        <p:spPr>
          <a:xfrm xmlns:a="http://schemas.openxmlformats.org/drawingml/2006/main">
            <a:off x="7486650" y="3371850"/>
            <a:ext cx="2857500" cy="781050"/>
          </a:xfrm>
          <a:prstGeom xmlns:a="http://schemas.openxmlformats.org/drawingml/2006/main" prst="rect">
            <a:avLst/>
          </a:prstGeom>
          <a:solidFill xmlns:a="http://schemas.openxmlformats.org/drawingml/2006/main">
            <a:srgbClr val="252A26"/>
          </a:solidFill>
          <a:ln xmlns:a="http://schemas.openxmlformats.org/drawingml/2006/main" w="9525">
            <a:solidFill>
              <a:srgbClr val="7C9720"/>
            </a:solidFill>
            <a:prstDash val="solid"/>
          </a:ln>
        </p:spPr>
      </p:sp>
      <p:sp>
        <p:nvSpPr>
          <p:cNvPr id="21" name="s2-paper-forum-label">
            <a:extLst xmlns:a="http://schemas.openxmlformats.org/drawingml/2006/main">
              <a:ext uri="{FF2B5EF4-FFF2-40B4-BE49-F238E27FC236}">
                <a16:creationId xmlns:a16="http://schemas.microsoft.com/office/drawing/2014/main" id="{A2BB938C-21D8-43F1-A01B-FB69D1BEE2BE}"/>
              </a:ext>
            </a:extLst>
          </p:cNvPr>
          <p:cNvSpPr>
            <a:spLocks xmlns:a="http://schemas.openxmlformats.org/drawingml/2006/main" noGrp="1"/>
          </p:cNvSpPr>
          <p:nvPr/>
        </p:nvSpPr>
        <p:spPr>
          <a:xfrm xmlns:a="http://schemas.openxmlformats.org/drawingml/2006/main">
            <a:off x="7734300" y="3600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200" b="1">
                <a:solidFill>
                  <a:srgbClr val="C8FF00"/>
                </a:solidFill>
                <a:latin typeface="Courier New"/>
                <a:ea typeface="Courier New"/>
                <a:cs typeface="Courier New"/>
              </a:defRPr>
            </a:pPr>
            <a:r>
              <a:rPr sz="1200" b="1">
                <a:solidFill>
                  <a:srgbClr val="C8FF00"/>
                </a:solidFill>
                <a:latin typeface="Courier New"/>
                <a:ea typeface="Courier New"/>
                <a:cs typeface="Courier New"/>
              </a:rPr>
              <a:t>FORUM WISDOM</a:t>
            </a:r>
          </a:p>
        </p:txBody>
      </p:sp>
      <p:sp>
        <p:nvSpPr>
          <p:cNvPr id="22" name="s2-paper-forum-sub">
            <a:extLst xmlns:a="http://schemas.openxmlformats.org/drawingml/2006/main">
              <a:ext uri="{FF2B5EF4-FFF2-40B4-BE49-F238E27FC236}">
                <a16:creationId xmlns:a16="http://schemas.microsoft.com/office/drawing/2014/main" id="{F0076347-0100-4264-8A53-79A0218C60E9}"/>
              </a:ext>
            </a:extLst>
          </p:cNvPr>
          <p:cNvSpPr>
            <a:spLocks xmlns:a="http://schemas.openxmlformats.org/drawingml/2006/main" noGrp="1"/>
          </p:cNvSpPr>
          <p:nvPr/>
        </p:nvSpPr>
        <p:spPr>
          <a:xfrm xmlns:a="http://schemas.openxmlformats.org/drawingml/2006/main">
            <a:off x="7734300" y="3905250"/>
            <a:ext cx="220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useful — or confidently wrong</a:t>
            </a:r>
          </a:p>
        </p:txBody>
      </p:sp>
      <p:sp>
        <p:nvSpPr>
          <p:cNvPr id="23" name="s2-paper-mixed">
            <a:extLst xmlns:a="http://schemas.openxmlformats.org/drawingml/2006/main">
              <a:ext uri="{FF2B5EF4-FFF2-40B4-BE49-F238E27FC236}">
                <a16:creationId xmlns:a16="http://schemas.microsoft.com/office/drawing/2014/main" id="{276C7DF8-8BE7-4770-8251-642549AE856E}"/>
              </a:ext>
            </a:extLst>
          </p:cNvPr>
          <p:cNvSpPr>
            <a:spLocks xmlns:a="http://schemas.openxmlformats.org/drawingml/2006/main" noGrp="1"/>
          </p:cNvSpPr>
          <p:nvPr/>
        </p:nvSpPr>
        <p:spPr>
          <a:xfrm xmlns:a="http://schemas.openxmlformats.org/drawingml/2006/main">
            <a:off x="7886700" y="4248150"/>
            <a:ext cx="2800350" cy="723900"/>
          </a:xfrm>
          <a:prstGeom xmlns:a="http://schemas.openxmlformats.org/drawingml/2006/main" prst="rect">
            <a:avLst/>
          </a:prstGeom>
          <a:solidFill xmlns:a="http://schemas.openxmlformats.org/drawingml/2006/main">
            <a:srgbClr val="181B18"/>
          </a:solidFill>
          <a:ln xmlns:a="http://schemas.openxmlformats.org/drawingml/2006/main" w="9525">
            <a:solidFill>
              <a:srgbClr val="E66D3A"/>
            </a:solidFill>
            <a:prstDash val="solid"/>
          </a:ln>
        </p:spPr>
      </p:sp>
      <p:sp>
        <p:nvSpPr>
          <p:cNvPr id="24" name="s2-paper-mixed-label">
            <a:extLst xmlns:a="http://schemas.openxmlformats.org/drawingml/2006/main">
              <a:ext uri="{FF2B5EF4-FFF2-40B4-BE49-F238E27FC236}">
                <a16:creationId xmlns:a16="http://schemas.microsoft.com/office/drawing/2014/main" id="{75F6CB87-B85B-4CAC-AFCF-A58EE62D807D}"/>
              </a:ext>
            </a:extLst>
          </p:cNvPr>
          <p:cNvSpPr>
            <a:spLocks xmlns:a="http://schemas.openxmlformats.org/drawingml/2006/main" noGrp="1"/>
          </p:cNvSpPr>
          <p:nvPr/>
        </p:nvSpPr>
        <p:spPr>
          <a:xfrm xmlns:a="http://schemas.openxmlformats.org/drawingml/2006/main">
            <a:off x="8115300" y="44672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125" b="1">
                <a:solidFill>
                  <a:srgbClr val="F4F1E8"/>
                </a:solidFill>
                <a:latin typeface="Courier New"/>
                <a:ea typeface="Courier New"/>
                <a:cs typeface="Courier New"/>
              </a:defRPr>
            </a:pPr>
            <a:r>
              <a:rPr sz="1125" b="1">
                <a:solidFill>
                  <a:srgbClr val="F4F1E8"/>
                </a:solidFill>
                <a:latin typeface="Courier New"/>
                <a:ea typeface="Courier New"/>
                <a:cs typeface="Courier New"/>
              </a:rPr>
              <a:t>MIXED COMPONENTS</a:t>
            </a:r>
          </a:p>
        </p:txBody>
      </p:sp>
      <p:sp>
        <p:nvSpPr>
          <p:cNvPr id="25" name="s2-paper-mixed-sub">
            <a:extLst xmlns:a="http://schemas.openxmlformats.org/drawingml/2006/main">
              <a:ext uri="{FF2B5EF4-FFF2-40B4-BE49-F238E27FC236}">
                <a16:creationId xmlns:a16="http://schemas.microsoft.com/office/drawing/2014/main" id="{22C18E35-B995-42A5-8DD1-09AEAA59951C}"/>
              </a:ext>
            </a:extLst>
          </p:cNvPr>
          <p:cNvSpPr>
            <a:spLocks xmlns:a="http://schemas.openxmlformats.org/drawingml/2006/main" noGrp="1"/>
          </p:cNvSpPr>
          <p:nvPr/>
        </p:nvSpPr>
        <p:spPr>
          <a:xfrm xmlns:a="http://schemas.openxmlformats.org/drawingml/2006/main">
            <a:off x="8115300" y="4752975"/>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decisions change mid-build</a:t>
            </a:r>
          </a:p>
        </p:txBody>
      </p:sp>
      <p:sp>
        <p:nvSpPr>
          <p:cNvPr id="26" name="s2-scribble">
            <a:extLst xmlns:a="http://schemas.openxmlformats.org/drawingml/2006/main">
              <a:ext uri="{FF2B5EF4-FFF2-40B4-BE49-F238E27FC236}">
                <a16:creationId xmlns:a16="http://schemas.microsoft.com/office/drawing/2014/main" id="{DBBCD223-BEEC-44EF-B343-09C9840209A4}"/>
              </a:ext>
            </a:extLst>
          </p:cNvPr>
          <p:cNvSpPr>
            <a:spLocks xmlns:a="http://schemas.openxmlformats.org/drawingml/2006/main" noGrp="1"/>
          </p:cNvSpPr>
          <p:nvPr/>
        </p:nvSpPr>
        <p:spPr>
          <a:xfrm xmlns:a="http://schemas.openxmlformats.org/drawingml/2006/main">
            <a:off x="9753600" y="5581650"/>
            <a:ext cx="1257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lnSpc>
                <a:spcPct val="90000"/>
              </a:lnSpc>
              <a:buNone/>
              <a:defRPr sz="1350" b="1">
                <a:solidFill>
                  <a:srgbClr val="C8FF00"/>
                </a:solidFill>
                <a:latin typeface="Arial Narrow"/>
                <a:ea typeface="Arial Narrow"/>
                <a:cs typeface="Arial Narrow"/>
              </a:defRPr>
            </a:pPr>
            <a:r>
              <a:rPr sz="1350" b="1">
                <a:solidFill>
                  <a:srgbClr val="C8FF00"/>
                </a:solidFill>
                <a:latin typeface="Arial Narrow"/>
                <a:ea typeface="Arial Narrow"/>
                <a:cs typeface="Arial Narrow"/>
              </a:rPr>
              <a:t>same car.</a:t>
            </a:r>
          </a:p>
          <a:p xmlns:a="http://schemas.openxmlformats.org/drawingml/2006/main">
            <a:pPr algn="r">
              <a:lnSpc>
                <a:spcPct val="90000"/>
              </a:lnSpc>
              <a:buNone/>
              <a:defRPr sz="1350" b="1">
                <a:solidFill>
                  <a:srgbClr val="C8FF00"/>
                </a:solidFill>
                <a:latin typeface="Arial Narrow"/>
                <a:ea typeface="Arial Narrow"/>
                <a:cs typeface="Arial Narrow"/>
              </a:defRPr>
            </a:pPr>
            <a:r>
              <a:rPr sz="1350" b="1">
                <a:solidFill>
                  <a:srgbClr val="C8FF00"/>
                </a:solidFill>
                <a:latin typeface="Arial Narrow"/>
                <a:ea typeface="Arial Narrow"/>
                <a:cs typeface="Arial Narrow"/>
              </a:rPr>
              <a:t>different truth.</a:t>
            </a:r>
          </a:p>
        </p:txBody>
      </p:sp>
      <p:sp>
        <p:nvSpPr>
          <p:cNvPr id="27" name="page-2">
            <a:extLst xmlns:a="http://schemas.openxmlformats.org/drawingml/2006/main">
              <a:ext uri="{FF2B5EF4-FFF2-40B4-BE49-F238E27FC236}">
                <a16:creationId xmlns:a16="http://schemas.microsoft.com/office/drawing/2014/main" id="{1E1CD645-6689-45CB-B37D-19A7398F5385}"/>
              </a:ext>
            </a:extLst>
          </p:cNvPr>
          <p:cNvSpPr>
            <a:spLocks xmlns:a="http://schemas.openxmlformats.org/drawingml/2006/main" noGrp="1"/>
          </p:cNvSpPr>
          <p:nvPr/>
        </p:nvSpPr>
        <p:spPr>
          <a:xfrm xmlns:a="http://schemas.openxmlformats.org/drawingml/2006/main">
            <a:off x="10839450" y="6362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02 / 05</a:t>
            </a:r>
          </a:p>
        </p:txBody>
      </p:sp>
    </p:spTree>
    <p:extLst>
      <p:ext uri="{BB962C8B-B14F-4D97-AF65-F5344CB8AC3E}">
        <p14:creationId xmlns:p14="http://schemas.microsoft.com/office/powerpoint/2010/main" val="421547954"/>
      </p:ext>
    </p:extLst>
  </p:cSld>
</p:sld>
</file>

<file path=ppt/slides/slide3.xml><?xml version="1.0" encoding="utf-8"?>
<p:sld xmlns:p="http://schemas.openxmlformats.org/presentationml/2006/main">
  <p:cSld>
    <p:bg>
      <p:bgPr>
        <a:solidFill xmlns:a="http://schemas.openxmlformats.org/drawingml/2006/main">
          <a:srgbClr val="0B0D0C"/>
        </a:solidFill>
      </p:bgPr>
    </p:bg>
    <p:spTree>
      <p:nvGrpSpPr>
        <p:cNvPr id="1" name=""/>
        <p:cNvGrpSpPr/>
        <p:nvPr/>
      </p:nvGrpSpPr>
      <p:grpSpPr>
        <a:xfrm xmlns:a="http://schemas.openxmlformats.org/drawingml/2006/main"/>
      </p:grpSpPr>
      <p:sp>
        <p:nvSpPr>
          <p:cNvPr id="27" name="s3-eyebrow">
            <a:extLst xmlns:a="http://schemas.openxmlformats.org/drawingml/2006/main">
              <a:ext uri="{FF2B5EF4-FFF2-40B4-BE49-F238E27FC236}">
                <a16:creationId xmlns:a16="http://schemas.microsoft.com/office/drawing/2014/main" id="{FF8DE88B-3A49-4D73-8C76-B8D9DCD6B0BB}"/>
              </a:ext>
            </a:extLst>
          </p:cNvPr>
          <p:cNvSpPr>
            <a:spLocks xmlns:a="http://schemas.openxmlformats.org/drawingml/2006/main" noGrp="1"/>
          </p:cNvSpPr>
          <p:nvPr/>
        </p:nvSpPr>
        <p:spPr>
          <a:xfrm xmlns:a="http://schemas.openxmlformats.org/drawingml/2006/main">
            <a:off x="685800" y="514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75" b="1">
                <a:solidFill>
                  <a:srgbClr val="C8FF00"/>
                </a:solidFill>
                <a:latin typeface="Courier New"/>
                <a:ea typeface="Courier New"/>
                <a:cs typeface="Courier New"/>
              </a:defRPr>
            </a:pPr>
            <a:r>
              <a:rPr sz="975" b="1">
                <a:solidFill>
                  <a:srgbClr val="C8FF00"/>
                </a:solidFill>
                <a:latin typeface="Courier New"/>
                <a:ea typeface="Courier New"/>
                <a:cs typeface="Courier New"/>
              </a:rPr>
              <a:t>THE DESIGN PRINCIPLE</a:t>
            </a:r>
          </a:p>
        </p:txBody>
      </p:sp>
      <p:sp>
        <p:nvSpPr>
          <p:cNvPr id="2" name="s3-title">
            <a:extLst xmlns:a="http://schemas.openxmlformats.org/drawingml/2006/main">
              <a:ext uri="{FF2B5EF4-FFF2-40B4-BE49-F238E27FC236}">
                <a16:creationId xmlns:a16="http://schemas.microsoft.com/office/drawing/2014/main" id="{A723FD5A-A196-4734-AD15-F123D0478213}"/>
              </a:ext>
            </a:extLst>
          </p:cNvPr>
          <p:cNvSpPr>
            <a:spLocks xmlns:a="http://schemas.openxmlformats.org/drawingml/2006/main" noGrp="1"/>
          </p:cNvSpPr>
          <p:nvPr/>
        </p:nvSpPr>
        <p:spPr>
          <a:xfrm xmlns:a="http://schemas.openxmlformats.org/drawingml/2006/main">
            <a:off x="685800" y="87630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3600" b="1">
                <a:solidFill>
                  <a:srgbClr val="F4F1E8"/>
                </a:solidFill>
                <a:latin typeface="Arial Narrow"/>
                <a:ea typeface="Arial Narrow"/>
                <a:cs typeface="Arial Narrow"/>
              </a:defRPr>
            </a:pPr>
            <a:r>
              <a:rPr sz="3600" b="1">
                <a:solidFill>
                  <a:srgbClr val="F4F1E8"/>
                </a:solidFill>
                <a:latin typeface="Arial Narrow"/>
                <a:ea typeface="Arial Narrow"/>
                <a:cs typeface="Arial Narrow"/>
              </a:rPr>
              <a:t>The manual stays in charge.</a:t>
            </a:r>
          </a:p>
        </p:txBody>
      </p:sp>
      <p:sp>
        <p:nvSpPr>
          <p:cNvPr id="3" name="s3-subtitle">
            <a:extLst xmlns:a="http://schemas.openxmlformats.org/drawingml/2006/main">
              <a:ext uri="{FF2B5EF4-FFF2-40B4-BE49-F238E27FC236}">
                <a16:creationId xmlns:a16="http://schemas.microsoft.com/office/drawing/2014/main" id="{A17F6A22-F220-4A3D-AC67-6D930FBBE649}"/>
              </a:ext>
            </a:extLst>
          </p:cNvPr>
          <p:cNvSpPr>
            <a:spLocks xmlns:a="http://schemas.openxmlformats.org/drawingml/2006/main" noGrp="1"/>
          </p:cNvSpPr>
          <p:nvPr/>
        </p:nvSpPr>
        <p:spPr>
          <a:xfrm xmlns:a="http://schemas.openxmlformats.org/drawingml/2006/main">
            <a:off x="704850" y="15240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425">
                <a:solidFill>
                  <a:srgbClr val="A7ABA1"/>
                </a:solidFill>
                <a:latin typeface="Aptos"/>
                <a:ea typeface="Aptos"/>
                <a:cs typeface="Aptos"/>
              </a:defRPr>
            </a:pPr>
            <a:r>
              <a:rPr sz="1425">
                <a:solidFill>
                  <a:srgbClr val="A7ABA1"/>
                </a:solidFill>
                <a:latin typeface="Aptos"/>
                <a:ea typeface="Aptos"/>
                <a:cs typeface="Aptos"/>
              </a:rPr>
              <a:t>Source authority is a product decision—not a footnote.</a:t>
            </a:r>
          </a:p>
        </p:txBody>
      </p:sp>
      <p:sp>
        <p:nvSpPr>
          <p:cNvPr id="4" name="s3-flow-label">
            <a:extLst xmlns:a="http://schemas.openxmlformats.org/drawingml/2006/main">
              <a:ext uri="{FF2B5EF4-FFF2-40B4-BE49-F238E27FC236}">
                <a16:creationId xmlns:a16="http://schemas.microsoft.com/office/drawing/2014/main" id="{5110EFE8-DE87-4CDA-BC61-EE1F0474C241}"/>
              </a:ext>
            </a:extLst>
          </p:cNvPr>
          <p:cNvSpPr>
            <a:spLocks xmlns:a="http://schemas.openxmlformats.org/drawingml/2006/main" noGrp="1"/>
          </p:cNvSpPr>
          <p:nvPr/>
        </p:nvSpPr>
        <p:spPr>
          <a:xfrm xmlns:a="http://schemas.openxmlformats.org/drawingml/2006/main">
            <a:off x="704850" y="22479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b="1">
                <a:solidFill>
                  <a:srgbClr val="7C9720"/>
                </a:solidFill>
                <a:latin typeface="Courier New"/>
                <a:ea typeface="Courier New"/>
                <a:cs typeface="Courier New"/>
              </a:defRPr>
            </a:pPr>
            <a:r>
              <a:rPr sz="900" b="1">
                <a:solidFill>
                  <a:srgbClr val="7C9720"/>
                </a:solidFill>
                <a:latin typeface="Courier New"/>
                <a:ea typeface="Courier New"/>
                <a:cs typeface="Courier New"/>
              </a:rPr>
              <a:t>SOURCE AUTHORITY  /  HIGH → LOW</a:t>
            </a:r>
          </a:p>
        </p:txBody>
      </p:sp>
      <p:sp>
        <p:nvSpPr>
          <p:cNvPr id="5" name="s3-flow-line-1">
            <a:extLst xmlns:a="http://schemas.openxmlformats.org/drawingml/2006/main">
              <a:ext uri="{FF2B5EF4-FFF2-40B4-BE49-F238E27FC236}">
                <a16:creationId xmlns:a16="http://schemas.microsoft.com/office/drawing/2014/main" id="{481E1A63-58F0-4AEA-BBF3-42494F419366}"/>
              </a:ext>
            </a:extLst>
          </p:cNvPr>
          <p:cNvSpPr>
            <a:spLocks xmlns:a="http://schemas.openxmlformats.org/drawingml/2006/main" noGrp="1"/>
          </p:cNvSpPr>
          <p:nvPr/>
        </p:nvSpPr>
        <p:spPr>
          <a:xfrm xmlns:a="http://schemas.openxmlformats.org/drawingml/2006/main">
            <a:off x="3028950" y="3486150"/>
            <a:ext cx="361950" cy="0"/>
          </a:xfrm>
          <a:prstGeom xmlns:a="http://schemas.openxmlformats.org/drawingml/2006/main" prst="line">
            <a:avLst/>
          </a:prstGeom>
          <a:noFill xmlns:a="http://schemas.openxmlformats.org/drawingml/2006/main"/>
          <a:ln xmlns:a="http://schemas.openxmlformats.org/drawingml/2006/main" w="19050">
            <a:solidFill>
              <a:srgbClr val="7C9720"/>
            </a:solidFill>
            <a:prstDash val="solid"/>
          </a:ln>
        </p:spPr>
      </p:sp>
      <p:sp>
        <p:nvSpPr>
          <p:cNvPr id="6" name="s3-flow-line-2">
            <a:extLst xmlns:a="http://schemas.openxmlformats.org/drawingml/2006/main">
              <a:ext uri="{FF2B5EF4-FFF2-40B4-BE49-F238E27FC236}">
                <a16:creationId xmlns:a16="http://schemas.microsoft.com/office/drawing/2014/main" id="{35E1BC63-F0F1-4D9F-8A03-5A4D06D4F969}"/>
              </a:ext>
            </a:extLst>
          </p:cNvPr>
          <p:cNvSpPr>
            <a:spLocks xmlns:a="http://schemas.openxmlformats.org/drawingml/2006/main" noGrp="1"/>
          </p:cNvSpPr>
          <p:nvPr/>
        </p:nvSpPr>
        <p:spPr>
          <a:xfrm xmlns:a="http://schemas.openxmlformats.org/drawingml/2006/main">
            <a:off x="5429250" y="3486150"/>
            <a:ext cx="361950" cy="0"/>
          </a:xfrm>
          <a:prstGeom xmlns:a="http://schemas.openxmlformats.org/drawingml/2006/main" prst="line">
            <a:avLst/>
          </a:prstGeom>
          <a:noFill xmlns:a="http://schemas.openxmlformats.org/drawingml/2006/main"/>
          <a:ln xmlns:a="http://schemas.openxmlformats.org/drawingml/2006/main" w="19050">
            <a:solidFill>
              <a:srgbClr val="7C9720"/>
            </a:solidFill>
            <a:prstDash val="solid"/>
          </a:ln>
        </p:spPr>
      </p:sp>
      <p:sp>
        <p:nvSpPr>
          <p:cNvPr id="7" name="s3-flow-line-3">
            <a:extLst xmlns:a="http://schemas.openxmlformats.org/drawingml/2006/main">
              <a:ext uri="{FF2B5EF4-FFF2-40B4-BE49-F238E27FC236}">
                <a16:creationId xmlns:a16="http://schemas.microsoft.com/office/drawing/2014/main" id="{4254408F-7F19-4380-839C-927A82F36760}"/>
              </a:ext>
            </a:extLst>
          </p:cNvPr>
          <p:cNvSpPr>
            <a:spLocks xmlns:a="http://schemas.openxmlformats.org/drawingml/2006/main" noGrp="1"/>
          </p:cNvSpPr>
          <p:nvPr/>
        </p:nvSpPr>
        <p:spPr>
          <a:xfrm xmlns:a="http://schemas.openxmlformats.org/drawingml/2006/main">
            <a:off x="7829550" y="3486150"/>
            <a:ext cx="361950" cy="0"/>
          </a:xfrm>
          <a:prstGeom xmlns:a="http://schemas.openxmlformats.org/drawingml/2006/main" prst="line">
            <a:avLst/>
          </a:prstGeom>
          <a:noFill xmlns:a="http://schemas.openxmlformats.org/drawingml/2006/main"/>
          <a:ln xmlns:a="http://schemas.openxmlformats.org/drawingml/2006/main" w="19050">
            <a:solidFill>
              <a:srgbClr val="7C9720"/>
            </a:solidFill>
            <a:prstDash val="solid"/>
          </a:ln>
        </p:spPr>
      </p:sp>
      <p:sp>
        <p:nvSpPr>
          <p:cNvPr id="8" name="s3-arrow-1">
            <a:extLst xmlns:a="http://schemas.openxmlformats.org/drawingml/2006/main">
              <a:ext uri="{FF2B5EF4-FFF2-40B4-BE49-F238E27FC236}">
                <a16:creationId xmlns:a16="http://schemas.microsoft.com/office/drawing/2014/main" id="{D722943E-8DF2-41FC-856A-CC2D64483F84}"/>
              </a:ext>
            </a:extLst>
          </p:cNvPr>
          <p:cNvSpPr>
            <a:spLocks xmlns:a="http://schemas.openxmlformats.org/drawingml/2006/main" noGrp="1"/>
          </p:cNvSpPr>
          <p:nvPr/>
        </p:nvSpPr>
        <p:spPr>
          <a:xfrm xmlns:a="http://schemas.openxmlformats.org/drawingml/2006/main">
            <a:off x="3314700" y="3238500"/>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700" b="1">
                <a:solidFill>
                  <a:srgbClr val="C8FF00"/>
                </a:solidFill>
                <a:latin typeface="Arial Narrow"/>
                <a:ea typeface="Arial Narrow"/>
                <a:cs typeface="Arial Narrow"/>
              </a:defRPr>
            </a:pPr>
            <a:r>
              <a:rPr sz="2700" b="1">
                <a:solidFill>
                  <a:srgbClr val="C8FF00"/>
                </a:solidFill>
                <a:latin typeface="Arial Narrow"/>
                <a:ea typeface="Arial Narrow"/>
                <a:cs typeface="Arial Narrow"/>
              </a:rPr>
              <a:t>›</a:t>
            </a:r>
          </a:p>
        </p:txBody>
      </p:sp>
      <p:sp>
        <p:nvSpPr>
          <p:cNvPr id="9" name="s3-arrow-2">
            <a:extLst xmlns:a="http://schemas.openxmlformats.org/drawingml/2006/main">
              <a:ext uri="{FF2B5EF4-FFF2-40B4-BE49-F238E27FC236}">
                <a16:creationId xmlns:a16="http://schemas.microsoft.com/office/drawing/2014/main" id="{D40893F7-05C0-4182-8B9E-CC782A0955D1}"/>
              </a:ext>
            </a:extLst>
          </p:cNvPr>
          <p:cNvSpPr>
            <a:spLocks xmlns:a="http://schemas.openxmlformats.org/drawingml/2006/main" noGrp="1"/>
          </p:cNvSpPr>
          <p:nvPr/>
        </p:nvSpPr>
        <p:spPr>
          <a:xfrm xmlns:a="http://schemas.openxmlformats.org/drawingml/2006/main">
            <a:off x="5715000" y="3238500"/>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700" b="1">
                <a:solidFill>
                  <a:srgbClr val="C8FF00"/>
                </a:solidFill>
                <a:latin typeface="Arial Narrow"/>
                <a:ea typeface="Arial Narrow"/>
                <a:cs typeface="Arial Narrow"/>
              </a:defRPr>
            </a:pPr>
            <a:r>
              <a:rPr sz="2700" b="1">
                <a:solidFill>
                  <a:srgbClr val="C8FF00"/>
                </a:solidFill>
                <a:latin typeface="Arial Narrow"/>
                <a:ea typeface="Arial Narrow"/>
                <a:cs typeface="Arial Narrow"/>
              </a:rPr>
              <a:t>›</a:t>
            </a:r>
          </a:p>
        </p:txBody>
      </p:sp>
      <p:sp>
        <p:nvSpPr>
          <p:cNvPr id="10" name="s3-arrow-3">
            <a:extLst xmlns:a="http://schemas.openxmlformats.org/drawingml/2006/main">
              <a:ext uri="{FF2B5EF4-FFF2-40B4-BE49-F238E27FC236}">
                <a16:creationId xmlns:a16="http://schemas.microsoft.com/office/drawing/2014/main" id="{82E95581-1A21-485F-92C2-1398D5006196}"/>
              </a:ext>
            </a:extLst>
          </p:cNvPr>
          <p:cNvSpPr>
            <a:spLocks xmlns:a="http://schemas.openxmlformats.org/drawingml/2006/main" noGrp="1"/>
          </p:cNvSpPr>
          <p:nvPr/>
        </p:nvSpPr>
        <p:spPr>
          <a:xfrm xmlns:a="http://schemas.openxmlformats.org/drawingml/2006/main">
            <a:off x="8115300" y="3238500"/>
            <a:ext cx="22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700" b="1">
                <a:solidFill>
                  <a:srgbClr val="C8FF00"/>
                </a:solidFill>
                <a:latin typeface="Arial Narrow"/>
                <a:ea typeface="Arial Narrow"/>
                <a:cs typeface="Arial Narrow"/>
              </a:defRPr>
            </a:pPr>
            <a:r>
              <a:rPr sz="2700" b="1">
                <a:solidFill>
                  <a:srgbClr val="C8FF00"/>
                </a:solidFill>
                <a:latin typeface="Arial Narrow"/>
                <a:ea typeface="Arial Narrow"/>
                <a:cs typeface="Arial Narrow"/>
              </a:rPr>
              <a:t>›</a:t>
            </a:r>
          </a:p>
        </p:txBody>
      </p:sp>
      <p:sp>
        <p:nvSpPr>
          <p:cNvPr id="11" name="s3-factory-five">
            <a:extLst xmlns:a="http://schemas.openxmlformats.org/drawingml/2006/main">
              <a:ext uri="{FF2B5EF4-FFF2-40B4-BE49-F238E27FC236}">
                <a16:creationId xmlns:a16="http://schemas.microsoft.com/office/drawing/2014/main" id="{D00747FF-437D-4F7B-B2F1-980EE8D18D92}"/>
              </a:ext>
            </a:extLst>
          </p:cNvPr>
          <p:cNvSpPr>
            <a:spLocks xmlns:a="http://schemas.openxmlformats.org/drawingml/2006/main" noGrp="1"/>
          </p:cNvSpPr>
          <p:nvPr/>
        </p:nvSpPr>
        <p:spPr>
          <a:xfrm xmlns:a="http://schemas.openxmlformats.org/drawingml/2006/main">
            <a:off x="685800" y="2686050"/>
            <a:ext cx="2343150" cy="1600200"/>
          </a:xfrm>
          <a:prstGeom xmlns:a="http://schemas.openxmlformats.org/drawingml/2006/main" prst="roundRect">
            <a:avLst>
              <a:gd name="adj" fmla="val 4762"/>
            </a:avLst>
          </a:prstGeom>
          <a:solidFill xmlns:a="http://schemas.openxmlformats.org/drawingml/2006/main">
            <a:srgbClr val="C8FF00"/>
          </a:solidFill>
          <a:ln xmlns:a="http://schemas.openxmlformats.org/drawingml/2006/main" w="0">
            <a:solidFill>
              <a:srgbClr val="C8FF00"/>
            </a:solidFill>
            <a:prstDash val="solid"/>
          </a:ln>
        </p:spPr>
      </p:sp>
      <p:sp>
        <p:nvSpPr>
          <p:cNvPr id="12" name="s3-factory-five-label">
            <a:extLst xmlns:a="http://schemas.openxmlformats.org/drawingml/2006/main">
              <a:ext uri="{FF2B5EF4-FFF2-40B4-BE49-F238E27FC236}">
                <a16:creationId xmlns:a16="http://schemas.microsoft.com/office/drawing/2014/main" id="{713232C6-59FE-4EBB-B7C4-6E12E3C2A637}"/>
              </a:ext>
            </a:extLst>
          </p:cNvPr>
          <p:cNvSpPr>
            <a:spLocks xmlns:a="http://schemas.openxmlformats.org/drawingml/2006/main" noGrp="1"/>
          </p:cNvSpPr>
          <p:nvPr/>
        </p:nvSpPr>
        <p:spPr>
          <a:xfrm xmlns:a="http://schemas.openxmlformats.org/drawingml/2006/main">
            <a:off x="895350" y="297180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88000"/>
              </a:lnSpc>
              <a:buNone/>
              <a:defRPr sz="2100" b="1">
                <a:solidFill>
                  <a:srgbClr val="12150F"/>
                </a:solidFill>
                <a:latin typeface="Arial Narrow"/>
                <a:ea typeface="Arial Narrow"/>
                <a:cs typeface="Arial Narrow"/>
              </a:defRPr>
            </a:pPr>
            <a:r>
              <a:rPr sz="2100" b="1">
                <a:solidFill>
                  <a:srgbClr val="12150F"/>
                </a:solidFill>
                <a:latin typeface="Arial Narrow"/>
                <a:ea typeface="Arial Narrow"/>
                <a:cs typeface="Arial Narrow"/>
              </a:rPr>
              <a:t>FACTORY FIVE</a:t>
            </a:r>
          </a:p>
          <a:p xmlns:a="http://schemas.openxmlformats.org/drawingml/2006/main">
            <a:pPr>
              <a:lnSpc>
                <a:spcPct val="88000"/>
              </a:lnSpc>
              <a:buNone/>
              <a:defRPr sz="2100" b="1">
                <a:solidFill>
                  <a:srgbClr val="12150F"/>
                </a:solidFill>
                <a:latin typeface="Arial Narrow"/>
                <a:ea typeface="Arial Narrow"/>
                <a:cs typeface="Arial Narrow"/>
              </a:defRPr>
            </a:pPr>
            <a:r>
              <a:rPr sz="2100" b="1">
                <a:solidFill>
                  <a:srgbClr val="12150F"/>
                </a:solidFill>
                <a:latin typeface="Arial Narrow"/>
                <a:ea typeface="Arial Narrow"/>
                <a:cs typeface="Arial Narrow"/>
              </a:rPr>
              <a:t>DOCUMENTS</a:t>
            </a:r>
          </a:p>
        </p:txBody>
      </p:sp>
      <p:sp>
        <p:nvSpPr>
          <p:cNvPr id="13" name="s3-factory-five-sub">
            <a:extLst xmlns:a="http://schemas.openxmlformats.org/drawingml/2006/main">
              <a:ext uri="{FF2B5EF4-FFF2-40B4-BE49-F238E27FC236}">
                <a16:creationId xmlns:a16="http://schemas.microsoft.com/office/drawing/2014/main" id="{4CE1CC0F-1FC8-4C2B-929A-CE9845265FD8}"/>
              </a:ext>
            </a:extLst>
          </p:cNvPr>
          <p:cNvSpPr>
            <a:spLocks xmlns:a="http://schemas.openxmlformats.org/drawingml/2006/main" noGrp="1"/>
          </p:cNvSpPr>
          <p:nvPr/>
        </p:nvSpPr>
        <p:spPr>
          <a:xfrm xmlns:a="http://schemas.openxmlformats.org/drawingml/2006/main">
            <a:off x="914400" y="38290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b="1">
                <a:solidFill>
                  <a:srgbClr val="12150F"/>
                </a:solidFill>
                <a:latin typeface="Courier New"/>
                <a:ea typeface="Courier New"/>
                <a:cs typeface="Courier New"/>
              </a:defRPr>
            </a:pPr>
            <a:r>
              <a:rPr sz="900" b="1">
                <a:solidFill>
                  <a:srgbClr val="12150F"/>
                </a:solidFill>
                <a:latin typeface="Courier New"/>
                <a:ea typeface="Courier New"/>
                <a:cs typeface="Courier New"/>
              </a:rPr>
              <a:t>CONTROLS THE BUILD</a:t>
            </a:r>
          </a:p>
        </p:txBody>
      </p:sp>
      <p:sp>
        <p:nvSpPr>
          <p:cNvPr id="14" name="s3-vendor">
            <a:extLst xmlns:a="http://schemas.openxmlformats.org/drawingml/2006/main">
              <a:ext uri="{FF2B5EF4-FFF2-40B4-BE49-F238E27FC236}">
                <a16:creationId xmlns:a16="http://schemas.microsoft.com/office/drawing/2014/main" id="{693E5982-8306-4CB2-99C6-D0EE8BFD92DE}"/>
              </a:ext>
            </a:extLst>
          </p:cNvPr>
          <p:cNvSpPr>
            <a:spLocks xmlns:a="http://schemas.openxmlformats.org/drawingml/2006/main" noGrp="1"/>
          </p:cNvSpPr>
          <p:nvPr/>
        </p:nvSpPr>
        <p:spPr>
          <a:xfrm xmlns:a="http://schemas.openxmlformats.org/drawingml/2006/main">
            <a:off x="3390900" y="2895600"/>
            <a:ext cx="2038350" cy="1390650"/>
          </a:xfrm>
          <a:prstGeom xmlns:a="http://schemas.openxmlformats.org/drawingml/2006/main" prst="roundRect">
            <a:avLst>
              <a:gd name="adj" fmla="val 5479"/>
            </a:avLst>
          </a:prstGeom>
          <a:solidFill xmlns:a="http://schemas.openxmlformats.org/drawingml/2006/main">
            <a:srgbClr val="20261E"/>
          </a:solidFill>
          <a:ln xmlns:a="http://schemas.openxmlformats.org/drawingml/2006/main" w="9525">
            <a:solidFill>
              <a:srgbClr val="7C9720"/>
            </a:solidFill>
            <a:prstDash val="solid"/>
          </a:ln>
        </p:spPr>
      </p:sp>
      <p:sp>
        <p:nvSpPr>
          <p:cNvPr id="15" name="s3-vendor-label">
            <a:extLst xmlns:a="http://schemas.openxmlformats.org/drawingml/2006/main">
              <a:ext uri="{FF2B5EF4-FFF2-40B4-BE49-F238E27FC236}">
                <a16:creationId xmlns:a16="http://schemas.microsoft.com/office/drawing/2014/main" id="{AE054D12-895F-4D85-8B4D-303787610B2F}"/>
              </a:ext>
            </a:extLst>
          </p:cNvPr>
          <p:cNvSpPr>
            <a:spLocks xmlns:a="http://schemas.openxmlformats.org/drawingml/2006/main" noGrp="1"/>
          </p:cNvSpPr>
          <p:nvPr/>
        </p:nvSpPr>
        <p:spPr>
          <a:xfrm xmlns:a="http://schemas.openxmlformats.org/drawingml/2006/main">
            <a:off x="3600450" y="31432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90000"/>
              </a:lnSpc>
              <a:buNone/>
              <a:defRPr sz="1875" b="1">
                <a:solidFill>
                  <a:srgbClr val="F4F1E8"/>
                </a:solidFill>
                <a:latin typeface="Arial Narrow"/>
                <a:ea typeface="Arial Narrow"/>
                <a:cs typeface="Arial Narrow"/>
              </a:defRPr>
            </a:pPr>
            <a:r>
              <a:rPr sz="1875" b="1">
                <a:solidFill>
                  <a:srgbClr val="F4F1E8"/>
                </a:solidFill>
                <a:latin typeface="Arial Narrow"/>
                <a:ea typeface="Arial Narrow"/>
                <a:cs typeface="Arial Narrow"/>
              </a:rPr>
              <a:t>VENDOR</a:t>
            </a:r>
          </a:p>
          <a:p xmlns:a="http://schemas.openxmlformats.org/drawingml/2006/main">
            <a:pPr>
              <a:lnSpc>
                <a:spcPct val="90000"/>
              </a:lnSpc>
              <a:buNone/>
              <a:defRPr sz="1875" b="1">
                <a:solidFill>
                  <a:srgbClr val="F4F1E8"/>
                </a:solidFill>
                <a:latin typeface="Arial Narrow"/>
                <a:ea typeface="Arial Narrow"/>
                <a:cs typeface="Arial Narrow"/>
              </a:defRPr>
            </a:pPr>
            <a:r>
              <a:rPr sz="1875" b="1">
                <a:solidFill>
                  <a:srgbClr val="F4F1E8"/>
                </a:solidFill>
                <a:latin typeface="Arial Narrow"/>
                <a:ea typeface="Arial Narrow"/>
                <a:cs typeface="Arial Narrow"/>
              </a:rPr>
              <a:t>INSTRUCTIONS</a:t>
            </a:r>
          </a:p>
        </p:txBody>
      </p:sp>
      <p:sp>
        <p:nvSpPr>
          <p:cNvPr id="16" name="s3-vendor-sub">
            <a:extLst xmlns:a="http://schemas.openxmlformats.org/drawingml/2006/main">
              <a:ext uri="{FF2B5EF4-FFF2-40B4-BE49-F238E27FC236}">
                <a16:creationId xmlns:a16="http://schemas.microsoft.com/office/drawing/2014/main" id="{A2FB2D21-56F5-4FA4-8DAE-3808133FE723}"/>
              </a:ext>
            </a:extLst>
          </p:cNvPr>
          <p:cNvSpPr>
            <a:spLocks xmlns:a="http://schemas.openxmlformats.org/drawingml/2006/main" noGrp="1"/>
          </p:cNvSpPr>
          <p:nvPr/>
        </p:nvSpPr>
        <p:spPr>
          <a:xfrm xmlns:a="http://schemas.openxmlformats.org/drawingml/2006/main">
            <a:off x="3619500" y="39243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825" b="1">
                <a:solidFill>
                  <a:srgbClr val="A7ABA1"/>
                </a:solidFill>
                <a:latin typeface="Courier New"/>
                <a:ea typeface="Courier New"/>
                <a:cs typeface="Courier New"/>
              </a:defRPr>
            </a:pPr>
            <a:r>
              <a:rPr sz="825" b="1">
                <a:solidFill>
                  <a:srgbClr val="A7ABA1"/>
                </a:solidFill>
                <a:latin typeface="Courier New"/>
                <a:ea typeface="Courier New"/>
                <a:cs typeface="Courier New"/>
              </a:rPr>
              <a:t>COMPONENT-SPECIFIC</a:t>
            </a:r>
          </a:p>
        </p:txBody>
      </p:sp>
      <p:sp>
        <p:nvSpPr>
          <p:cNvPr id="17" name="s3-forum">
            <a:extLst xmlns:a="http://schemas.openxmlformats.org/drawingml/2006/main">
              <a:ext uri="{FF2B5EF4-FFF2-40B4-BE49-F238E27FC236}">
                <a16:creationId xmlns:a16="http://schemas.microsoft.com/office/drawing/2014/main" id="{35FB2CAE-AB40-4383-8E2D-318D7C9BE696}"/>
              </a:ext>
            </a:extLst>
          </p:cNvPr>
          <p:cNvSpPr>
            <a:spLocks xmlns:a="http://schemas.openxmlformats.org/drawingml/2006/main" noGrp="1"/>
          </p:cNvSpPr>
          <p:nvPr/>
        </p:nvSpPr>
        <p:spPr>
          <a:xfrm xmlns:a="http://schemas.openxmlformats.org/drawingml/2006/main">
            <a:off x="5791200" y="3105150"/>
            <a:ext cx="2038350" cy="1181100"/>
          </a:xfrm>
          <a:prstGeom xmlns:a="http://schemas.openxmlformats.org/drawingml/2006/main" prst="roundRect">
            <a:avLst>
              <a:gd name="adj" fmla="val 6452"/>
            </a:avLst>
          </a:prstGeom>
          <a:solidFill xmlns:a="http://schemas.openxmlformats.org/drawingml/2006/main">
            <a:srgbClr val="20261E"/>
          </a:solidFill>
          <a:ln xmlns:a="http://schemas.openxmlformats.org/drawingml/2006/main" w="9525">
            <a:solidFill>
              <a:srgbClr val="54624A"/>
            </a:solidFill>
            <a:prstDash val="solid"/>
          </a:ln>
        </p:spPr>
      </p:sp>
      <p:sp>
        <p:nvSpPr>
          <p:cNvPr id="18" name="s3-forum-label">
            <a:extLst xmlns:a="http://schemas.openxmlformats.org/drawingml/2006/main">
              <a:ext uri="{FF2B5EF4-FFF2-40B4-BE49-F238E27FC236}">
                <a16:creationId xmlns:a16="http://schemas.microsoft.com/office/drawing/2014/main" id="{9EBC4DD5-41B6-4A2A-87C3-1FE0945E3BEC}"/>
              </a:ext>
            </a:extLst>
          </p:cNvPr>
          <p:cNvSpPr>
            <a:spLocks xmlns:a="http://schemas.openxmlformats.org/drawingml/2006/main" noGrp="1"/>
          </p:cNvSpPr>
          <p:nvPr/>
        </p:nvSpPr>
        <p:spPr>
          <a:xfrm xmlns:a="http://schemas.openxmlformats.org/drawingml/2006/main">
            <a:off x="6000750" y="33432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90000"/>
              </a:lnSpc>
              <a:buNone/>
              <a:defRPr sz="1725" b="1">
                <a:solidFill>
                  <a:srgbClr val="F4F1E8"/>
                </a:solidFill>
                <a:latin typeface="Arial Narrow"/>
                <a:ea typeface="Arial Narrow"/>
                <a:cs typeface="Arial Narrow"/>
              </a:defRPr>
            </a:pPr>
            <a:r>
              <a:rPr sz="1725" b="1">
                <a:solidFill>
                  <a:srgbClr val="F4F1E8"/>
                </a:solidFill>
                <a:latin typeface="Arial Narrow"/>
                <a:ea typeface="Arial Narrow"/>
                <a:cs typeface="Arial Narrow"/>
              </a:rPr>
              <a:t>FACTORY FIVE</a:t>
            </a:r>
          </a:p>
          <a:p xmlns:a="http://schemas.openxmlformats.org/drawingml/2006/main">
            <a:pPr>
              <a:lnSpc>
                <a:spcPct val="90000"/>
              </a:lnSpc>
              <a:buNone/>
              <a:defRPr sz="1725" b="1">
                <a:solidFill>
                  <a:srgbClr val="F4F1E8"/>
                </a:solidFill>
                <a:latin typeface="Arial Narrow"/>
                <a:ea typeface="Arial Narrow"/>
                <a:cs typeface="Arial Narrow"/>
              </a:defRPr>
            </a:pPr>
            <a:r>
              <a:rPr sz="1725" b="1">
                <a:solidFill>
                  <a:srgbClr val="F4F1E8"/>
                </a:solidFill>
                <a:latin typeface="Arial Narrow"/>
                <a:ea typeface="Arial Narrow"/>
                <a:cs typeface="Arial Narrow"/>
              </a:rPr>
              <a:t>FORUM CONTEXT</a:t>
            </a:r>
          </a:p>
        </p:txBody>
      </p:sp>
      <p:sp>
        <p:nvSpPr>
          <p:cNvPr id="19" name="s3-forum-sub">
            <a:extLst xmlns:a="http://schemas.openxmlformats.org/drawingml/2006/main">
              <a:ext uri="{FF2B5EF4-FFF2-40B4-BE49-F238E27FC236}">
                <a16:creationId xmlns:a16="http://schemas.microsoft.com/office/drawing/2014/main" id="{B5512AA8-86E0-4EAD-BE7C-81030FF579F4}"/>
              </a:ext>
            </a:extLst>
          </p:cNvPr>
          <p:cNvSpPr>
            <a:spLocks xmlns:a="http://schemas.openxmlformats.org/drawingml/2006/main" noGrp="1"/>
          </p:cNvSpPr>
          <p:nvPr/>
        </p:nvSpPr>
        <p:spPr>
          <a:xfrm xmlns:a="http://schemas.openxmlformats.org/drawingml/2006/main">
            <a:off x="6019800" y="39624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825" b="1">
                <a:solidFill>
                  <a:srgbClr val="A7ABA1"/>
                </a:solidFill>
                <a:latin typeface="Courier New"/>
                <a:ea typeface="Courier New"/>
                <a:cs typeface="Courier New"/>
              </a:defRPr>
            </a:pPr>
            <a:r>
              <a:rPr sz="825" b="1">
                <a:solidFill>
                  <a:srgbClr val="A7ABA1"/>
                </a:solidFill>
                <a:latin typeface="Courier New"/>
                <a:ea typeface="Courier New"/>
                <a:cs typeface="Courier New"/>
              </a:rPr>
              <a:t>COMMUNITY CONTEXT</a:t>
            </a:r>
          </a:p>
        </p:txBody>
      </p:sp>
      <p:sp>
        <p:nvSpPr>
          <p:cNvPr id="20" name="s3-web">
            <a:extLst xmlns:a="http://schemas.openxmlformats.org/drawingml/2006/main">
              <a:ext uri="{FF2B5EF4-FFF2-40B4-BE49-F238E27FC236}">
                <a16:creationId xmlns:a16="http://schemas.microsoft.com/office/drawing/2014/main" id="{279EA2DD-6FD2-4E7F-A0A1-8D06C32584C4}"/>
              </a:ext>
            </a:extLst>
          </p:cNvPr>
          <p:cNvSpPr>
            <a:spLocks xmlns:a="http://schemas.openxmlformats.org/drawingml/2006/main" noGrp="1"/>
          </p:cNvSpPr>
          <p:nvPr/>
        </p:nvSpPr>
        <p:spPr>
          <a:xfrm xmlns:a="http://schemas.openxmlformats.org/drawingml/2006/main">
            <a:off x="8191500" y="3314700"/>
            <a:ext cx="2038350" cy="971550"/>
          </a:xfrm>
          <a:prstGeom xmlns:a="http://schemas.openxmlformats.org/drawingml/2006/main" prst="roundRect">
            <a:avLst>
              <a:gd name="adj" fmla="val 7843"/>
            </a:avLst>
          </a:prstGeom>
          <a:solidFill xmlns:a="http://schemas.openxmlformats.org/drawingml/2006/main">
            <a:srgbClr val="171A17"/>
          </a:solidFill>
          <a:ln xmlns:a="http://schemas.openxmlformats.org/drawingml/2006/main" w="9525">
            <a:solidFill>
              <a:srgbClr val="3A4039"/>
            </a:solidFill>
            <a:prstDash val="solid"/>
          </a:ln>
        </p:spPr>
      </p:sp>
      <p:sp>
        <p:nvSpPr>
          <p:cNvPr id="21" name="s3-web-label">
            <a:extLst xmlns:a="http://schemas.openxmlformats.org/drawingml/2006/main">
              <a:ext uri="{FF2B5EF4-FFF2-40B4-BE49-F238E27FC236}">
                <a16:creationId xmlns:a16="http://schemas.microsoft.com/office/drawing/2014/main" id="{8B379C69-5117-420F-B2F5-653E270F7D22}"/>
              </a:ext>
            </a:extLst>
          </p:cNvPr>
          <p:cNvSpPr>
            <a:spLocks xmlns:a="http://schemas.openxmlformats.org/drawingml/2006/main" noGrp="1"/>
          </p:cNvSpPr>
          <p:nvPr/>
        </p:nvSpPr>
        <p:spPr>
          <a:xfrm xmlns:a="http://schemas.openxmlformats.org/drawingml/2006/main">
            <a:off x="8420100" y="3524250"/>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800" b="1">
                <a:solidFill>
                  <a:srgbClr val="F4F1E8"/>
                </a:solidFill>
                <a:latin typeface="Arial Narrow"/>
                <a:ea typeface="Arial Narrow"/>
                <a:cs typeface="Arial Narrow"/>
              </a:defRPr>
            </a:pPr>
            <a:r>
              <a:rPr sz="1800" b="1">
                <a:solidFill>
                  <a:srgbClr val="F4F1E8"/>
                </a:solidFill>
                <a:latin typeface="Arial Narrow"/>
                <a:ea typeface="Arial Narrow"/>
                <a:cs typeface="Arial Narrow"/>
              </a:rPr>
              <a:t>GENERAL WEB</a:t>
            </a:r>
          </a:p>
        </p:txBody>
      </p:sp>
      <p:sp>
        <p:nvSpPr>
          <p:cNvPr id="22" name="s3-web-sub">
            <a:extLst xmlns:a="http://schemas.openxmlformats.org/drawingml/2006/main">
              <a:ext uri="{FF2B5EF4-FFF2-40B4-BE49-F238E27FC236}">
                <a16:creationId xmlns:a16="http://schemas.microsoft.com/office/drawing/2014/main" id="{5E879D83-E3BC-4F6C-A23A-6369B20878EC}"/>
              </a:ext>
            </a:extLst>
          </p:cNvPr>
          <p:cNvSpPr>
            <a:spLocks xmlns:a="http://schemas.openxmlformats.org/drawingml/2006/main" noGrp="1"/>
          </p:cNvSpPr>
          <p:nvPr/>
        </p:nvSpPr>
        <p:spPr>
          <a:xfrm xmlns:a="http://schemas.openxmlformats.org/drawingml/2006/main">
            <a:off x="8439150" y="39433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825" b="1">
                <a:solidFill>
                  <a:srgbClr val="A7ABA1"/>
                </a:solidFill>
                <a:latin typeface="Courier New"/>
                <a:ea typeface="Courier New"/>
                <a:cs typeface="Courier New"/>
              </a:defRPr>
            </a:pPr>
            <a:r>
              <a:rPr sz="825" b="1">
                <a:solidFill>
                  <a:srgbClr val="A7ABA1"/>
                </a:solidFill>
                <a:latin typeface="Courier New"/>
                <a:ea typeface="Courier New"/>
                <a:cs typeface="Courier New"/>
              </a:rPr>
              <a:t>LAST RESORT</a:t>
            </a:r>
          </a:p>
        </p:txBody>
      </p:sp>
      <p:sp>
        <p:nvSpPr>
          <p:cNvPr id="23" name="s3-citation-callout">
            <a:extLst xmlns:a="http://schemas.openxmlformats.org/drawingml/2006/main">
              <a:ext uri="{FF2B5EF4-FFF2-40B4-BE49-F238E27FC236}">
                <a16:creationId xmlns:a16="http://schemas.microsoft.com/office/drawing/2014/main" id="{AF1D7BE9-C260-4635-B396-E11CD82C0923}"/>
              </a:ext>
            </a:extLst>
          </p:cNvPr>
          <p:cNvSpPr>
            <a:spLocks xmlns:a="http://schemas.openxmlformats.org/drawingml/2006/main" noGrp="1"/>
          </p:cNvSpPr>
          <p:nvPr/>
        </p:nvSpPr>
        <p:spPr>
          <a:xfrm xmlns:a="http://schemas.openxmlformats.org/drawingml/2006/main">
            <a:off x="685800" y="5086350"/>
            <a:ext cx="9544050" cy="666750"/>
          </a:xfrm>
          <a:prstGeom xmlns:a="http://schemas.openxmlformats.org/drawingml/2006/main" prst="roundRect">
            <a:avLst>
              <a:gd name="adj" fmla="val 11429"/>
            </a:avLst>
          </a:prstGeom>
          <a:solidFill xmlns:a="http://schemas.openxmlformats.org/drawingml/2006/main">
            <a:srgbClr val="182016"/>
          </a:solidFill>
          <a:ln xmlns:a="http://schemas.openxmlformats.org/drawingml/2006/main" w="9525">
            <a:solidFill>
              <a:srgbClr val="7C9720"/>
            </a:solidFill>
            <a:prstDash val="solid"/>
          </a:ln>
        </p:spPr>
      </p:sp>
      <p:sp>
        <p:nvSpPr>
          <p:cNvPr id="24" name="s3-citation">
            <a:extLst xmlns:a="http://schemas.openxmlformats.org/drawingml/2006/main">
              <a:ext uri="{FF2B5EF4-FFF2-40B4-BE49-F238E27FC236}">
                <a16:creationId xmlns:a16="http://schemas.microsoft.com/office/drawing/2014/main" id="{F65EFE04-4A95-466A-9F82-ADE81FA62215}"/>
              </a:ext>
            </a:extLst>
          </p:cNvPr>
          <p:cNvSpPr>
            <a:spLocks xmlns:a="http://schemas.openxmlformats.org/drawingml/2006/main" noGrp="1"/>
          </p:cNvSpPr>
          <p:nvPr/>
        </p:nvSpPr>
        <p:spPr>
          <a:xfrm xmlns:a="http://schemas.openxmlformats.org/drawingml/2006/main">
            <a:off x="952500" y="5257800"/>
            <a:ext cx="880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100" b="1">
                <a:solidFill>
                  <a:srgbClr val="C8FF00"/>
                </a:solidFill>
                <a:latin typeface="Arial Narrow"/>
                <a:ea typeface="Arial Narrow"/>
                <a:cs typeface="Arial Narrow"/>
              </a:defRPr>
            </a:pPr>
            <a:r>
              <a:rPr sz="2100" b="1">
                <a:solidFill>
                  <a:srgbClr val="C8FF00"/>
                </a:solidFill>
                <a:latin typeface="Arial Narrow"/>
                <a:ea typeface="Arial Narrow"/>
                <a:cs typeface="Arial Narrow"/>
              </a:rPr>
              <a:t>Every manual-derived answer links to the exact PDF page.</a:t>
            </a:r>
          </a:p>
        </p:txBody>
      </p:sp>
      <p:sp>
        <p:nvSpPr>
          <p:cNvPr id="25" name="s3-stop">
            <a:extLst xmlns:a="http://schemas.openxmlformats.org/drawingml/2006/main">
              <a:ext uri="{FF2B5EF4-FFF2-40B4-BE49-F238E27FC236}">
                <a16:creationId xmlns:a16="http://schemas.microsoft.com/office/drawing/2014/main" id="{7D700086-5123-4D87-9392-56DB7E816213}"/>
              </a:ext>
            </a:extLst>
          </p:cNvPr>
          <p:cNvSpPr>
            <a:spLocks xmlns:a="http://schemas.openxmlformats.org/drawingml/2006/main" noGrp="1"/>
          </p:cNvSpPr>
          <p:nvPr/>
        </p:nvSpPr>
        <p:spPr>
          <a:xfrm xmlns:a="http://schemas.openxmlformats.org/drawingml/2006/main">
            <a:off x="685800" y="59817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050" b="1">
                <a:solidFill>
                  <a:srgbClr val="E66D3A"/>
                </a:solidFill>
                <a:latin typeface="Courier New"/>
                <a:ea typeface="Courier New"/>
                <a:cs typeface="Courier New"/>
              </a:defRPr>
            </a:pPr>
            <a:r>
              <a:rPr sz="1050" b="1">
                <a:solidFill>
                  <a:srgbClr val="E66D3A"/>
                </a:solidFill>
                <a:latin typeface="Courier New"/>
                <a:ea typeface="Courier New"/>
                <a:cs typeface="Courier New"/>
              </a:rPr>
              <a:t>When documentation conflicts, the system surfaces STOP &amp; VERIFY.</a:t>
            </a:r>
          </a:p>
        </p:txBody>
      </p:sp>
      <p:sp>
        <p:nvSpPr>
          <p:cNvPr id="26" name="page-3">
            <a:extLst xmlns:a="http://schemas.openxmlformats.org/drawingml/2006/main">
              <a:ext uri="{FF2B5EF4-FFF2-40B4-BE49-F238E27FC236}">
                <a16:creationId xmlns:a16="http://schemas.microsoft.com/office/drawing/2014/main" id="{37E59F0D-0039-4184-9699-31097DDE5E2F}"/>
              </a:ext>
            </a:extLst>
          </p:cNvPr>
          <p:cNvSpPr>
            <a:spLocks xmlns:a="http://schemas.openxmlformats.org/drawingml/2006/main" noGrp="1"/>
          </p:cNvSpPr>
          <p:nvPr/>
        </p:nvSpPr>
        <p:spPr>
          <a:xfrm xmlns:a="http://schemas.openxmlformats.org/drawingml/2006/main">
            <a:off x="10839450" y="6362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03 / 05</a:t>
            </a:r>
          </a:p>
        </p:txBody>
      </p:sp>
    </p:spTree>
    <p:extLst>
      <p:ext uri="{BB962C8B-B14F-4D97-AF65-F5344CB8AC3E}">
        <p14:creationId xmlns:p14="http://schemas.microsoft.com/office/powerpoint/2010/main" val="1888179391"/>
      </p:ext>
    </p:extLst>
  </p:cSld>
</p:sld>
</file>

<file path=ppt/slides/slide4.xml><?xml version="1.0" encoding="utf-8"?>
<p:sld xmlns:p="http://schemas.openxmlformats.org/presentationml/2006/main">
  <p:cSld>
    <p:bg>
      <p:bgPr>
        <a:gradFill xmlns:a="http://schemas.openxmlformats.org/drawingml/2006/main">
          <a:gsLst>
            <a:gs pos="0">
              <a:srgbClr val="0B0D0C"/>
            </a:gs>
            <a:gs pos="100000">
              <a:srgbClr val="171C15"/>
            </a:gs>
          </a:gsLst>
          <a:lin ang="0"/>
        </a:gradFill>
      </p:bgPr>
    </p:bg>
    <p:spTree>
      <p:nvGrpSpPr>
        <p:cNvPr id="1" name=""/>
        <p:cNvGrpSpPr/>
        <p:nvPr/>
      </p:nvGrpSpPr>
      <p:grpSpPr>
        <a:xfrm xmlns:a="http://schemas.openxmlformats.org/drawingml/2006/main"/>
      </p:grpSpPr>
      <p:sp>
        <p:nvSpPr>
          <p:cNvPr id="11" name="s4-rail">
            <a:extLst xmlns:a="http://schemas.openxmlformats.org/drawingml/2006/main">
              <a:ext uri="{FF2B5EF4-FFF2-40B4-BE49-F238E27FC236}">
                <a16:creationId xmlns:a16="http://schemas.microsoft.com/office/drawing/2014/main" id="{C72176EF-9EAB-48A8-83F5-4DB8F90808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8FF00"/>
          </a:solidFill>
          <a:ln xmlns:a="http://schemas.openxmlformats.org/drawingml/2006/main" w="0">
            <a:noFill/>
            <a:prstDash val="solid"/>
          </a:ln>
        </p:spPr>
      </p:sp>
      <p:sp>
        <p:nvSpPr>
          <p:cNvPr id="2" name="s4-eyebrow">
            <a:extLst xmlns:a="http://schemas.openxmlformats.org/drawingml/2006/main">
              <a:ext uri="{FF2B5EF4-FFF2-40B4-BE49-F238E27FC236}">
                <a16:creationId xmlns:a16="http://schemas.microsoft.com/office/drawing/2014/main" id="{E9C8AAA5-C40B-4B6C-8EEC-2770AD030B4A}"/>
              </a:ext>
            </a:extLst>
          </p:cNvPr>
          <p:cNvSpPr>
            <a:spLocks xmlns:a="http://schemas.openxmlformats.org/drawingml/2006/main" noGrp="1"/>
          </p:cNvSpPr>
          <p:nvPr/>
        </p:nvSpPr>
        <p:spPr>
          <a:xfrm xmlns:a="http://schemas.openxmlformats.org/drawingml/2006/main">
            <a:off x="742950" y="1162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75" b="1">
                <a:solidFill>
                  <a:srgbClr val="C8FF00"/>
                </a:solidFill>
                <a:latin typeface="Courier New"/>
                <a:ea typeface="Courier New"/>
                <a:cs typeface="Courier New"/>
              </a:defRPr>
            </a:pPr>
            <a:r>
              <a:rPr sz="975" b="1">
                <a:solidFill>
                  <a:srgbClr val="C8FF00"/>
                </a:solidFill>
                <a:latin typeface="Courier New"/>
                <a:ea typeface="Courier New"/>
                <a:cs typeface="Courier New"/>
              </a:rPr>
              <a:t>LIVE DEMONSTRATION</a:t>
            </a:r>
          </a:p>
        </p:txBody>
      </p:sp>
      <p:sp>
        <p:nvSpPr>
          <p:cNvPr id="3" name="s4-title">
            <a:extLst xmlns:a="http://schemas.openxmlformats.org/drawingml/2006/main">
              <a:ext uri="{FF2B5EF4-FFF2-40B4-BE49-F238E27FC236}">
                <a16:creationId xmlns:a16="http://schemas.microsoft.com/office/drawing/2014/main" id="{40B162B8-CA55-41E4-8891-B4EEF6301533}"/>
              </a:ext>
            </a:extLst>
          </p:cNvPr>
          <p:cNvSpPr>
            <a:spLocks xmlns:a="http://schemas.openxmlformats.org/drawingml/2006/main" noGrp="1"/>
          </p:cNvSpPr>
          <p:nvPr/>
        </p:nvSpPr>
        <p:spPr>
          <a:xfrm xmlns:a="http://schemas.openxmlformats.org/drawingml/2006/main">
            <a:off x="742950" y="1638300"/>
            <a:ext cx="56197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84000"/>
              </a:lnSpc>
              <a:buNone/>
              <a:defRPr sz="4650" b="1">
                <a:solidFill>
                  <a:srgbClr val="F4F1E8"/>
                </a:solidFill>
                <a:latin typeface="Arial Narrow"/>
                <a:ea typeface="Arial Narrow"/>
                <a:cs typeface="Arial Narrow"/>
              </a:defRPr>
            </a:pPr>
            <a:r>
              <a:rPr sz="4650" b="1">
                <a:solidFill>
                  <a:srgbClr val="F4F1E8"/>
                </a:solidFill>
                <a:latin typeface="Arial Narrow"/>
                <a:ea typeface="Arial Narrow"/>
                <a:cs typeface="Arial Narrow"/>
              </a:rPr>
              <a:t>Let’s build</a:t>
            </a:r>
          </a:p>
          <a:p xmlns:a="http://schemas.openxmlformats.org/drawingml/2006/main">
            <a:pPr>
              <a:lnSpc>
                <a:spcPct val="84000"/>
              </a:lnSpc>
              <a:buNone/>
              <a:defRPr sz="4650" b="1">
                <a:solidFill>
                  <a:srgbClr val="F4F1E8"/>
                </a:solidFill>
                <a:latin typeface="Arial Narrow"/>
                <a:ea typeface="Arial Narrow"/>
                <a:cs typeface="Arial Narrow"/>
              </a:defRPr>
            </a:pPr>
            <a:r>
              <a:rPr sz="4650" b="1">
                <a:solidFill>
                  <a:srgbClr val="F4F1E8"/>
                </a:solidFill>
                <a:latin typeface="Arial Narrow"/>
                <a:ea typeface="Arial Narrow"/>
                <a:cs typeface="Arial Narrow"/>
              </a:rPr>
              <a:t>something stupid.</a:t>
            </a:r>
          </a:p>
          <a:p xmlns:a="http://schemas.openxmlformats.org/drawingml/2006/main">
            <a:pPr>
              <a:lnSpc>
                <a:spcPct val="84000"/>
              </a:lnSpc>
              <a:buNone/>
              <a:defRPr sz="4650" b="1">
                <a:solidFill>
                  <a:srgbClr val="F4F1E8"/>
                </a:solidFill>
                <a:latin typeface="Arial Narrow"/>
                <a:ea typeface="Arial Narrow"/>
                <a:cs typeface="Arial Narrow"/>
              </a:defRPr>
            </a:pPr>
            <a:r>
              <a:rPr sz="4650" b="1">
                <a:solidFill>
                  <a:srgbClr val="F4F1E8"/>
                </a:solidFill>
                <a:latin typeface="Arial Narrow"/>
                <a:ea typeface="Arial Narrow"/>
                <a:cs typeface="Arial Narrow"/>
              </a:rPr>
              <a:t>Safely.</a:t>
            </a:r>
          </a:p>
        </p:txBody>
      </p:sp>
      <p:sp>
        <p:nvSpPr>
          <p:cNvPr id="4" name="s4-rule">
            <a:extLst xmlns:a="http://schemas.openxmlformats.org/drawingml/2006/main">
              <a:ext uri="{FF2B5EF4-FFF2-40B4-BE49-F238E27FC236}">
                <a16:creationId xmlns:a16="http://schemas.microsoft.com/office/drawing/2014/main" id="{150AD19A-2EB7-4E57-A440-32B32AC90738}"/>
              </a:ext>
            </a:extLst>
          </p:cNvPr>
          <p:cNvSpPr>
            <a:spLocks xmlns:a="http://schemas.openxmlformats.org/drawingml/2006/main" noGrp="1"/>
          </p:cNvSpPr>
          <p:nvPr/>
        </p:nvSpPr>
        <p:spPr>
          <a:xfrm xmlns:a="http://schemas.openxmlformats.org/drawingml/2006/main">
            <a:off x="762000" y="4191000"/>
            <a:ext cx="2762250" cy="0"/>
          </a:xfrm>
          <a:prstGeom xmlns:a="http://schemas.openxmlformats.org/drawingml/2006/main" prst="line">
            <a:avLst/>
          </a:prstGeom>
          <a:noFill xmlns:a="http://schemas.openxmlformats.org/drawingml/2006/main"/>
          <a:ln xmlns:a="http://schemas.openxmlformats.org/drawingml/2006/main" w="28575">
            <a:solidFill>
              <a:srgbClr val="C8FF00"/>
            </a:solidFill>
            <a:prstDash val="solid"/>
          </a:ln>
        </p:spPr>
      </p:sp>
      <p:sp>
        <p:nvSpPr>
          <p:cNvPr id="5" name="s4-subtitle">
            <a:extLst xmlns:a="http://schemas.openxmlformats.org/drawingml/2006/main">
              <a:ext uri="{FF2B5EF4-FFF2-40B4-BE49-F238E27FC236}">
                <a16:creationId xmlns:a16="http://schemas.microsoft.com/office/drawing/2014/main" id="{BAB58302-ADA3-441B-B73F-8BDDB0693D32}"/>
              </a:ext>
            </a:extLst>
          </p:cNvPr>
          <p:cNvSpPr>
            <a:spLocks xmlns:a="http://schemas.openxmlformats.org/drawingml/2006/main" noGrp="1"/>
          </p:cNvSpPr>
          <p:nvPr/>
        </p:nvSpPr>
        <p:spPr>
          <a:xfrm xmlns:a="http://schemas.openxmlformats.org/drawingml/2006/main">
            <a:off x="762000" y="44386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725">
                <a:solidFill>
                  <a:srgbClr val="F4F1E8"/>
                </a:solidFill>
                <a:latin typeface="Aptos"/>
                <a:ea typeface="Aptos"/>
                <a:cs typeface="Aptos"/>
              </a:defRPr>
            </a:pPr>
            <a:r>
              <a:rPr sz="1725">
                <a:solidFill>
                  <a:srgbClr val="F4F1E8"/>
                </a:solidFill>
                <a:latin typeface="Aptos"/>
                <a:ea typeface="Aptos"/>
                <a:cs typeface="Aptos"/>
              </a:rPr>
              <a:t>Live Garage Goblin demonstration</a:t>
            </a:r>
          </a:p>
        </p:txBody>
      </p:sp>
      <p:sp>
        <p:nvSpPr>
          <p:cNvPr id="6" name="s4-support">
            <a:extLst xmlns:a="http://schemas.openxmlformats.org/drawingml/2006/main">
              <a:ext uri="{FF2B5EF4-FFF2-40B4-BE49-F238E27FC236}">
                <a16:creationId xmlns:a16="http://schemas.microsoft.com/office/drawing/2014/main" id="{B8B28A70-DE41-4246-B0D1-3980FB926092}"/>
              </a:ext>
            </a:extLst>
          </p:cNvPr>
          <p:cNvSpPr>
            <a:spLocks xmlns:a="http://schemas.openxmlformats.org/drawingml/2006/main" noGrp="1"/>
          </p:cNvSpPr>
          <p:nvPr/>
        </p:nvSpPr>
        <p:spPr>
          <a:xfrm xmlns:a="http://schemas.openxmlformats.org/drawingml/2006/main">
            <a:off x="762000" y="49149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275">
                <a:solidFill>
                  <a:srgbClr val="A7ABA1"/>
                </a:solidFill>
                <a:latin typeface="Aptos"/>
                <a:ea typeface="Aptos"/>
                <a:cs typeface="Aptos"/>
              </a:defRPr>
            </a:pPr>
            <a:r>
              <a:rPr sz="1275">
                <a:solidFill>
                  <a:srgbClr val="A7ABA1"/>
                </a:solidFill>
                <a:latin typeface="Aptos"/>
                <a:ea typeface="Aptos"/>
                <a:cs typeface="Aptos"/>
              </a:rPr>
              <a:t>Real retrieval against the indexed Factory Five and vendor manuals.</a:t>
            </a:r>
          </a:p>
        </p:txBody>
      </p:sp>
      <p:sp>
        <p:nvSpPr>
          <p:cNvPr id="7" name="s4-aside">
            <a:extLst xmlns:a="http://schemas.openxmlformats.org/drawingml/2006/main">
              <a:ext uri="{FF2B5EF4-FFF2-40B4-BE49-F238E27FC236}">
                <a16:creationId xmlns:a16="http://schemas.microsoft.com/office/drawing/2014/main" id="{9B26DCC9-FA48-4D3C-822A-5909B8413752}"/>
              </a:ext>
            </a:extLst>
          </p:cNvPr>
          <p:cNvSpPr>
            <a:spLocks xmlns:a="http://schemas.openxmlformats.org/drawingml/2006/main" noGrp="1"/>
          </p:cNvSpPr>
          <p:nvPr/>
        </p:nvSpPr>
        <p:spPr>
          <a:xfrm xmlns:a="http://schemas.openxmlformats.org/drawingml/2006/main">
            <a:off x="762000" y="5905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00" b="1">
                <a:solidFill>
                  <a:srgbClr val="7C9720"/>
                </a:solidFill>
                <a:latin typeface="Courier New"/>
                <a:ea typeface="Courier New"/>
                <a:cs typeface="Courier New"/>
              </a:defRPr>
            </a:pPr>
            <a:r>
              <a:rPr sz="900" b="1">
                <a:solidFill>
                  <a:srgbClr val="7C9720"/>
                </a:solidFill>
                <a:latin typeface="Courier New"/>
                <a:ea typeface="Courier New"/>
                <a:cs typeface="Courier New"/>
              </a:rPr>
              <a:t>THE GARAGE IS OPEN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34c10225524f28"/>
          <a:stretch xmlns:a="http://schemas.openxmlformats.org/drawingml/2006/main"/>
        </p:blipFill>
        <p:spPr>
          <a:xfrm xmlns:a="http://schemas.openxmlformats.org/drawingml/2006/main">
            <a:off x="7067550" y="1390650"/>
            <a:ext cx="4095750" cy="4095750"/>
          </a:xfrm>
          <a:prstGeom xmlns:a="http://schemas.openxmlformats.org/drawingml/2006/main" prst="rect">
            <a:avLst/>
          </a:prstGeom>
        </p:spPr>
      </p:pic>
      <p:sp>
        <p:nvSpPr>
          <p:cNvPr id="9" name="s4-ground-glow">
            <a:extLst xmlns:a="http://schemas.openxmlformats.org/drawingml/2006/main">
              <a:ext uri="{FF2B5EF4-FFF2-40B4-BE49-F238E27FC236}">
                <a16:creationId xmlns:a16="http://schemas.microsoft.com/office/drawing/2014/main" id="{73F69684-C862-4E2C-BE0B-366A14B22F41}"/>
              </a:ext>
            </a:extLst>
          </p:cNvPr>
          <p:cNvSpPr>
            <a:spLocks xmlns:a="http://schemas.openxmlformats.org/drawingml/2006/main" noGrp="1"/>
          </p:cNvSpPr>
          <p:nvPr/>
        </p:nvSpPr>
        <p:spPr>
          <a:xfrm xmlns:a="http://schemas.openxmlformats.org/drawingml/2006/main">
            <a:off x="7124700" y="5095875"/>
            <a:ext cx="3619500" cy="552450"/>
          </a:xfrm>
          <a:prstGeom xmlns:a="http://schemas.openxmlformats.org/drawingml/2006/main" prst="ellipse">
            <a:avLst/>
          </a:prstGeom>
          <a:gradFill xmlns:a="http://schemas.openxmlformats.org/drawingml/2006/main">
            <a:gsLst>
              <a:gs pos="0">
                <a:srgbClr val="C8FF00">
                  <a:alpha val="18000"/>
                </a:srgbClr>
              </a:gs>
              <a:gs pos="100000">
                <a:srgbClr val="C8FF00">
                  <a:alpha val="0"/>
                </a:srgbClr>
              </a:gs>
            </a:gsLst>
            <a:path path="shape"/>
          </a:gradFill>
          <a:ln xmlns:a="http://schemas.openxmlformats.org/drawingml/2006/main" w="0">
            <a:noFill/>
            <a:prstDash val="solid"/>
          </a:ln>
        </p:spPr>
      </p:sp>
      <p:sp>
        <p:nvSpPr>
          <p:cNvPr id="10" name="page-4">
            <a:extLst xmlns:a="http://schemas.openxmlformats.org/drawingml/2006/main">
              <a:ext uri="{FF2B5EF4-FFF2-40B4-BE49-F238E27FC236}">
                <a16:creationId xmlns:a16="http://schemas.microsoft.com/office/drawing/2014/main" id="{CD884422-9FB3-431B-9F33-C9E953166E29}"/>
              </a:ext>
            </a:extLst>
          </p:cNvPr>
          <p:cNvSpPr>
            <a:spLocks xmlns:a="http://schemas.openxmlformats.org/drawingml/2006/main" noGrp="1"/>
          </p:cNvSpPr>
          <p:nvPr/>
        </p:nvSpPr>
        <p:spPr>
          <a:xfrm xmlns:a="http://schemas.openxmlformats.org/drawingml/2006/main">
            <a:off x="10839450" y="6362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04 / 05</a:t>
            </a:r>
          </a:p>
        </p:txBody>
      </p:sp>
    </p:spTree>
    <p:extLst>
      <p:ext uri="{BB962C8B-B14F-4D97-AF65-F5344CB8AC3E}">
        <p14:creationId xmlns:p14="http://schemas.microsoft.com/office/powerpoint/2010/main" val="223173833"/>
      </p:ext>
    </p:extLst>
  </p:cSld>
</p:sld>
</file>

<file path=ppt/slides/slide5.xml><?xml version="1.0" encoding="utf-8"?>
<p:sld xmlns:p="http://schemas.openxmlformats.org/presentationml/2006/main">
  <p:cSld>
    <p:bg>
      <p:bgPr>
        <a:solidFill xmlns:a="http://schemas.openxmlformats.org/drawingml/2006/main">
          <a:srgbClr val="0B0D0C"/>
        </a:solidFill>
      </p:bgPr>
    </p:bg>
    <p:spTree>
      <p:nvGrpSpPr>
        <p:cNvPr id="1" name=""/>
        <p:cNvGrpSpPr/>
        <p:nvPr/>
      </p:nvGrpSpPr>
      <p:grpSpPr>
        <a:xfrm xmlns:a="http://schemas.openxmlformats.org/drawingml/2006/main"/>
      </p:grpSpPr>
      <p:sp>
        <p:nvSpPr>
          <p:cNvPr id="22" name="s5-eyebrow">
            <a:extLst xmlns:a="http://schemas.openxmlformats.org/drawingml/2006/main">
              <a:ext uri="{FF2B5EF4-FFF2-40B4-BE49-F238E27FC236}">
                <a16:creationId xmlns:a16="http://schemas.microsoft.com/office/drawing/2014/main" id="{2F7154FC-9E19-405C-9EBF-9C8E9AA2B812}"/>
              </a:ext>
            </a:extLst>
          </p:cNvPr>
          <p:cNvSpPr>
            <a:spLocks xmlns:a="http://schemas.openxmlformats.org/drawingml/2006/main" noGrp="1"/>
          </p:cNvSpPr>
          <p:nvPr/>
        </p:nvSpPr>
        <p:spPr>
          <a:xfrm xmlns:a="http://schemas.openxmlformats.org/drawingml/2006/main">
            <a:off x="685800" y="4953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975" b="1">
                <a:solidFill>
                  <a:srgbClr val="C8FF00"/>
                </a:solidFill>
                <a:latin typeface="Courier New"/>
                <a:ea typeface="Courier New"/>
                <a:cs typeface="Courier New"/>
              </a:defRPr>
            </a:pPr>
            <a:r>
              <a:rPr sz="975" b="1">
                <a:solidFill>
                  <a:srgbClr val="C8FF00"/>
                </a:solidFill>
                <a:latin typeface="Courier New"/>
                <a:ea typeface="Courier New"/>
                <a:cs typeface="Courier New"/>
              </a:rPr>
              <a:t>PRODUCT PATH</a:t>
            </a:r>
          </a:p>
        </p:txBody>
      </p:sp>
      <p:sp>
        <p:nvSpPr>
          <p:cNvPr id="2" name="s5-title">
            <a:extLst xmlns:a="http://schemas.openxmlformats.org/drawingml/2006/main">
              <a:ext uri="{FF2B5EF4-FFF2-40B4-BE49-F238E27FC236}">
                <a16:creationId xmlns:a16="http://schemas.microsoft.com/office/drawing/2014/main" id="{7F62E08F-F144-4831-B6D5-FE246DF65613}"/>
              </a:ext>
            </a:extLst>
          </p:cNvPr>
          <p:cNvSpPr>
            <a:spLocks xmlns:a="http://schemas.openxmlformats.org/drawingml/2006/main" noGrp="1"/>
          </p:cNvSpPr>
          <p:nvPr/>
        </p:nvSpPr>
        <p:spPr>
          <a:xfrm xmlns:a="http://schemas.openxmlformats.org/drawingml/2006/main">
            <a:off x="685800" y="876300"/>
            <a:ext cx="657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88000"/>
              </a:lnSpc>
              <a:buNone/>
              <a:defRPr sz="3600" b="1">
                <a:solidFill>
                  <a:srgbClr val="F4F1E8"/>
                </a:solidFill>
                <a:latin typeface="Arial Narrow"/>
                <a:ea typeface="Arial Narrow"/>
                <a:cs typeface="Arial Narrow"/>
              </a:defRPr>
            </a:pPr>
            <a:r>
              <a:rPr sz="3600" b="1">
                <a:solidFill>
                  <a:srgbClr val="F4F1E8"/>
                </a:solidFill>
                <a:latin typeface="Arial Narrow"/>
                <a:ea typeface="Arial Narrow"/>
                <a:cs typeface="Arial Narrow"/>
              </a:rPr>
              <a:t>Start with one build.</a:t>
            </a:r>
          </a:p>
          <a:p xmlns:a="http://schemas.openxmlformats.org/drawingml/2006/main">
            <a:pPr>
              <a:lnSpc>
                <a:spcPct val="88000"/>
              </a:lnSpc>
              <a:buNone/>
              <a:defRPr sz="3600" b="1">
                <a:solidFill>
                  <a:srgbClr val="F4F1E8"/>
                </a:solidFill>
                <a:latin typeface="Arial Narrow"/>
                <a:ea typeface="Arial Narrow"/>
                <a:cs typeface="Arial Narrow"/>
              </a:defRPr>
            </a:pPr>
            <a:r>
              <a:rPr sz="3600" b="1">
                <a:solidFill>
                  <a:srgbClr val="F4F1E8"/>
                </a:solidFill>
                <a:latin typeface="Arial Narrow"/>
                <a:ea typeface="Arial Narrow"/>
                <a:cs typeface="Arial Narrow"/>
              </a:rPr>
              <a:t>Earn the right to expand.</a:t>
            </a:r>
          </a:p>
        </p:txBody>
      </p:sp>
      <p:sp>
        <p:nvSpPr>
          <p:cNvPr id="3" name="s5-rule">
            <a:extLst xmlns:a="http://schemas.openxmlformats.org/drawingml/2006/main">
              <a:ext uri="{FF2B5EF4-FFF2-40B4-BE49-F238E27FC236}">
                <a16:creationId xmlns:a16="http://schemas.microsoft.com/office/drawing/2014/main" id="{63763AA7-01DC-4429-B450-C96C8BB032CA}"/>
              </a:ext>
            </a:extLst>
          </p:cNvPr>
          <p:cNvSpPr>
            <a:spLocks xmlns:a="http://schemas.openxmlformats.org/drawingml/2006/main" noGrp="1"/>
          </p:cNvSpPr>
          <p:nvPr/>
        </p:nvSpPr>
        <p:spPr>
          <a:xfrm xmlns:a="http://schemas.openxmlformats.org/drawingml/2006/main">
            <a:off x="685800" y="2266950"/>
            <a:ext cx="10820400" cy="0"/>
          </a:xfrm>
          <a:prstGeom xmlns:a="http://schemas.openxmlformats.org/drawingml/2006/main" prst="line">
            <a:avLst/>
          </a:prstGeom>
          <a:noFill xmlns:a="http://schemas.openxmlformats.org/drawingml/2006/main"/>
          <a:ln xmlns:a="http://schemas.openxmlformats.org/drawingml/2006/main" w="9525">
            <a:solidFill>
              <a:srgbClr val="374031"/>
            </a:solidFill>
            <a:prstDash val="solid"/>
          </a:ln>
        </p:spPr>
      </p:sp>
      <p:sp>
        <p:nvSpPr>
          <p:cNvPr id="4" name="s5-today-label">
            <a:extLst xmlns:a="http://schemas.openxmlformats.org/drawingml/2006/main">
              <a:ext uri="{FF2B5EF4-FFF2-40B4-BE49-F238E27FC236}">
                <a16:creationId xmlns:a16="http://schemas.microsoft.com/office/drawing/2014/main" id="{0C04B512-D433-44F3-AAEF-FED9E6D9FE1F}"/>
              </a:ext>
            </a:extLst>
          </p:cNvPr>
          <p:cNvSpPr>
            <a:spLocks xmlns:a="http://schemas.openxmlformats.org/drawingml/2006/main" noGrp="1"/>
          </p:cNvSpPr>
          <p:nvPr/>
        </p:nvSpPr>
        <p:spPr>
          <a:xfrm xmlns:a="http://schemas.openxmlformats.org/drawingml/2006/main">
            <a:off x="68580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100" b="1">
                <a:solidFill>
                  <a:srgbClr val="C8FF00"/>
                </a:solidFill>
                <a:latin typeface="Arial Narrow"/>
                <a:ea typeface="Arial Narrow"/>
                <a:cs typeface="Arial Narrow"/>
              </a:defRPr>
            </a:pPr>
            <a:r>
              <a:rPr sz="2100" b="1">
                <a:solidFill>
                  <a:srgbClr val="C8FF00"/>
                </a:solidFill>
                <a:latin typeface="Arial Narrow"/>
                <a:ea typeface="Arial Narrow"/>
                <a:cs typeface="Arial Narrow"/>
              </a:rPr>
              <a:t>TODAY</a:t>
            </a:r>
          </a:p>
        </p:txBody>
      </p:sp>
      <p:sp>
        <p:nvSpPr>
          <p:cNvPr id="5" name="s5-next-label">
            <a:extLst xmlns:a="http://schemas.openxmlformats.org/drawingml/2006/main">
              <a:ext uri="{FF2B5EF4-FFF2-40B4-BE49-F238E27FC236}">
                <a16:creationId xmlns:a16="http://schemas.microsoft.com/office/drawing/2014/main" id="{0A76D62E-C002-4611-96F3-425179F7ACF4}"/>
              </a:ext>
            </a:extLst>
          </p:cNvPr>
          <p:cNvSpPr>
            <a:spLocks xmlns:a="http://schemas.openxmlformats.org/drawingml/2006/main" noGrp="1"/>
          </p:cNvSpPr>
          <p:nvPr/>
        </p:nvSpPr>
        <p:spPr>
          <a:xfrm xmlns:a="http://schemas.openxmlformats.org/drawingml/2006/main">
            <a:off x="674370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2100" b="1">
                <a:solidFill>
                  <a:srgbClr val="F4F1E8"/>
                </a:solidFill>
                <a:latin typeface="Arial Narrow"/>
                <a:ea typeface="Arial Narrow"/>
                <a:cs typeface="Arial Narrow"/>
              </a:defRPr>
            </a:pPr>
            <a:r>
              <a:rPr sz="2100" b="1">
                <a:solidFill>
                  <a:srgbClr val="F4F1E8"/>
                </a:solidFill>
                <a:latin typeface="Arial Narrow"/>
                <a:ea typeface="Arial Narrow"/>
                <a:cs typeface="Arial Narrow"/>
              </a:rPr>
              <a:t>NEXT</a:t>
            </a:r>
          </a:p>
        </p:txBody>
      </p:sp>
      <p:sp>
        <p:nvSpPr>
          <p:cNvPr id="6" name="s5-divider">
            <a:extLst xmlns:a="http://schemas.openxmlformats.org/drawingml/2006/main">
              <a:ext uri="{FF2B5EF4-FFF2-40B4-BE49-F238E27FC236}">
                <a16:creationId xmlns:a16="http://schemas.microsoft.com/office/drawing/2014/main" id="{260B2A73-B634-463B-8BE8-516C92CEB770}"/>
              </a:ext>
            </a:extLst>
          </p:cNvPr>
          <p:cNvSpPr>
            <a:spLocks xmlns:a="http://schemas.openxmlformats.org/drawingml/2006/main" noGrp="1"/>
          </p:cNvSpPr>
          <p:nvPr/>
        </p:nvSpPr>
        <p:spPr>
          <a:xfrm xmlns:a="http://schemas.openxmlformats.org/drawingml/2006/main">
            <a:off x="6191250" y="2686050"/>
            <a:ext cx="0" cy="2571750"/>
          </a:xfrm>
          <a:prstGeom xmlns:a="http://schemas.openxmlformats.org/drawingml/2006/main" prst="line">
            <a:avLst/>
          </a:prstGeom>
          <a:noFill xmlns:a="http://schemas.openxmlformats.org/drawingml/2006/main"/>
          <a:ln xmlns:a="http://schemas.openxmlformats.org/drawingml/2006/main" w="19050">
            <a:solidFill>
              <a:srgbClr val="C8FF00"/>
            </a:solidFill>
            <a:prstDash val="solid"/>
          </a:ln>
        </p:spPr>
      </p:sp>
      <p:sp>
        <p:nvSpPr>
          <p:cNvPr id="7" name="s5-today-1-dot">
            <a:extLst xmlns:a="http://schemas.openxmlformats.org/drawingml/2006/main">
              <a:ext uri="{FF2B5EF4-FFF2-40B4-BE49-F238E27FC236}">
                <a16:creationId xmlns:a16="http://schemas.microsoft.com/office/drawing/2014/main" id="{B28CBC2D-A2CD-420F-A2D8-C2504C266F7D}"/>
              </a:ext>
            </a:extLst>
          </p:cNvPr>
          <p:cNvSpPr>
            <a:spLocks xmlns:a="http://schemas.openxmlformats.org/drawingml/2006/main" noGrp="1"/>
          </p:cNvSpPr>
          <p:nvPr/>
        </p:nvSpPr>
        <p:spPr>
          <a:xfrm xmlns:a="http://schemas.openxmlformats.org/drawingml/2006/main">
            <a:off x="685800" y="3352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8" name="s5-today-1">
            <a:extLst xmlns:a="http://schemas.openxmlformats.org/drawingml/2006/main">
              <a:ext uri="{FF2B5EF4-FFF2-40B4-BE49-F238E27FC236}">
                <a16:creationId xmlns:a16="http://schemas.microsoft.com/office/drawing/2014/main" id="{DC1B353E-46EA-4221-ADD9-9338A8194CD6}"/>
              </a:ext>
            </a:extLst>
          </p:cNvPr>
          <p:cNvSpPr>
            <a:spLocks xmlns:a="http://schemas.openxmlformats.org/drawingml/2006/main" noGrp="1"/>
          </p:cNvSpPr>
          <p:nvPr/>
        </p:nvSpPr>
        <p:spPr>
          <a:xfrm xmlns:a="http://schemas.openxmlformats.org/drawingml/2006/main">
            <a:off x="990600" y="3352800"/>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One Factory Five Mk5 demo build</a:t>
            </a:r>
          </a:p>
        </p:txBody>
      </p:sp>
      <p:sp>
        <p:nvSpPr>
          <p:cNvPr id="9" name="s5-today-2-dot">
            <a:extLst xmlns:a="http://schemas.openxmlformats.org/drawingml/2006/main">
              <a:ext uri="{FF2B5EF4-FFF2-40B4-BE49-F238E27FC236}">
                <a16:creationId xmlns:a16="http://schemas.microsoft.com/office/drawing/2014/main" id="{82B9CFFD-010D-4BC2-B4DC-810338C79EB6}"/>
              </a:ext>
            </a:extLst>
          </p:cNvPr>
          <p:cNvSpPr>
            <a:spLocks xmlns:a="http://schemas.openxmlformats.org/drawingml/2006/main" noGrp="1"/>
          </p:cNvSpPr>
          <p:nvPr/>
        </p:nvSpPr>
        <p:spPr>
          <a:xfrm xmlns:a="http://schemas.openxmlformats.org/drawingml/2006/main">
            <a:off x="685800" y="40386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0" name="s5-today-2">
            <a:extLst xmlns:a="http://schemas.openxmlformats.org/drawingml/2006/main">
              <a:ext uri="{FF2B5EF4-FFF2-40B4-BE49-F238E27FC236}">
                <a16:creationId xmlns:a16="http://schemas.microsoft.com/office/drawing/2014/main" id="{DBF8ED76-D9FB-4ACD-B2FE-5AB90987B430}"/>
              </a:ext>
            </a:extLst>
          </p:cNvPr>
          <p:cNvSpPr>
            <a:spLocks xmlns:a="http://schemas.openxmlformats.org/drawingml/2006/main" noGrp="1"/>
          </p:cNvSpPr>
          <p:nvPr/>
        </p:nvSpPr>
        <p:spPr>
          <a:xfrm xmlns:a="http://schemas.openxmlformats.org/drawingml/2006/main">
            <a:off x="990600" y="4038600"/>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Manual-grounded chat and build briefings</a:t>
            </a:r>
          </a:p>
        </p:txBody>
      </p:sp>
      <p:sp>
        <p:nvSpPr>
          <p:cNvPr id="11" name="s5-today-3-dot">
            <a:extLst xmlns:a="http://schemas.openxmlformats.org/drawingml/2006/main">
              <a:ext uri="{FF2B5EF4-FFF2-40B4-BE49-F238E27FC236}">
                <a16:creationId xmlns:a16="http://schemas.microsoft.com/office/drawing/2014/main" id="{27655CB0-9029-4D8B-8554-8F5445FBB9B9}"/>
              </a:ext>
            </a:extLst>
          </p:cNvPr>
          <p:cNvSpPr>
            <a:spLocks xmlns:a="http://schemas.openxmlformats.org/drawingml/2006/main" noGrp="1"/>
          </p:cNvSpPr>
          <p:nvPr/>
        </p:nvSpPr>
        <p:spPr>
          <a:xfrm xmlns:a="http://schemas.openxmlformats.org/drawingml/2006/main">
            <a:off x="685800" y="47244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2" name="s5-today-3">
            <a:extLst xmlns:a="http://schemas.openxmlformats.org/drawingml/2006/main">
              <a:ext uri="{FF2B5EF4-FFF2-40B4-BE49-F238E27FC236}">
                <a16:creationId xmlns:a16="http://schemas.microsoft.com/office/drawing/2014/main" id="{796A31FC-7132-4FFA-A541-7C37D632EC87}"/>
              </a:ext>
            </a:extLst>
          </p:cNvPr>
          <p:cNvSpPr>
            <a:spLocks xmlns:a="http://schemas.openxmlformats.org/drawingml/2006/main" noGrp="1"/>
          </p:cNvSpPr>
          <p:nvPr/>
        </p:nvSpPr>
        <p:spPr>
          <a:xfrm xmlns:a="http://schemas.openxmlformats.org/drawingml/2006/main">
            <a:off x="990600" y="4724400"/>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Exact source pages, structured torque, and safety stops</a:t>
            </a:r>
          </a:p>
        </p:txBody>
      </p:sp>
      <p:sp>
        <p:nvSpPr>
          <p:cNvPr id="13" name="s5-next-1-dot">
            <a:extLst xmlns:a="http://schemas.openxmlformats.org/drawingml/2006/main">
              <a:ext uri="{FF2B5EF4-FFF2-40B4-BE49-F238E27FC236}">
                <a16:creationId xmlns:a16="http://schemas.microsoft.com/office/drawing/2014/main" id="{34F53233-7F9F-43A2-AB7B-7067E9A52803}"/>
              </a:ext>
            </a:extLst>
          </p:cNvPr>
          <p:cNvSpPr>
            <a:spLocks xmlns:a="http://schemas.openxmlformats.org/drawingml/2006/main" noGrp="1"/>
          </p:cNvSpPr>
          <p:nvPr/>
        </p:nvSpPr>
        <p:spPr>
          <a:xfrm xmlns:a="http://schemas.openxmlformats.org/drawingml/2006/main">
            <a:off x="6743700" y="3352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4" name="s5-next-1">
            <a:extLst xmlns:a="http://schemas.openxmlformats.org/drawingml/2006/main">
              <a:ext uri="{FF2B5EF4-FFF2-40B4-BE49-F238E27FC236}">
                <a16:creationId xmlns:a16="http://schemas.microsoft.com/office/drawing/2014/main" id="{A638322E-47E3-4642-BB3F-570992BDA207}"/>
              </a:ext>
            </a:extLst>
          </p:cNvPr>
          <p:cNvSpPr>
            <a:spLocks xmlns:a="http://schemas.openxmlformats.org/drawingml/2006/main" noGrp="1"/>
          </p:cNvSpPr>
          <p:nvPr/>
        </p:nvSpPr>
        <p:spPr>
          <a:xfrm xmlns:a="http://schemas.openxmlformats.org/drawingml/2006/main">
            <a:off x="7048500" y="3352800"/>
            <a:ext cx="3790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Authenticated builder projects</a:t>
            </a:r>
          </a:p>
        </p:txBody>
      </p:sp>
      <p:sp>
        <p:nvSpPr>
          <p:cNvPr id="15" name="s5-next-2-dot">
            <a:extLst xmlns:a="http://schemas.openxmlformats.org/drawingml/2006/main">
              <a:ext uri="{FF2B5EF4-FFF2-40B4-BE49-F238E27FC236}">
                <a16:creationId xmlns:a16="http://schemas.microsoft.com/office/drawing/2014/main" id="{8D10FAA0-64E0-4BD4-A716-656AEEE35C27}"/>
              </a:ext>
            </a:extLst>
          </p:cNvPr>
          <p:cNvSpPr>
            <a:spLocks xmlns:a="http://schemas.openxmlformats.org/drawingml/2006/main" noGrp="1"/>
          </p:cNvSpPr>
          <p:nvPr/>
        </p:nvSpPr>
        <p:spPr>
          <a:xfrm xmlns:a="http://schemas.openxmlformats.org/drawingml/2006/main">
            <a:off x="6743700" y="40386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6" name="s5-next-2">
            <a:extLst xmlns:a="http://schemas.openxmlformats.org/drawingml/2006/main">
              <a:ext uri="{FF2B5EF4-FFF2-40B4-BE49-F238E27FC236}">
                <a16:creationId xmlns:a16="http://schemas.microsoft.com/office/drawing/2014/main" id="{58BEA4C0-34E4-4482-836B-6691ABC491FD}"/>
              </a:ext>
            </a:extLst>
          </p:cNvPr>
          <p:cNvSpPr>
            <a:spLocks xmlns:a="http://schemas.openxmlformats.org/drawingml/2006/main" noGrp="1"/>
          </p:cNvSpPr>
          <p:nvPr/>
        </p:nvSpPr>
        <p:spPr>
          <a:xfrm xmlns:a="http://schemas.openxmlformats.org/drawingml/2006/main">
            <a:off x="7048500" y="4038600"/>
            <a:ext cx="3790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Private document storage and persistent build history</a:t>
            </a:r>
          </a:p>
        </p:txBody>
      </p:sp>
      <p:sp>
        <p:nvSpPr>
          <p:cNvPr id="17" name="s5-next-3-dot">
            <a:extLst xmlns:a="http://schemas.openxmlformats.org/drawingml/2006/main">
              <a:ext uri="{FF2B5EF4-FFF2-40B4-BE49-F238E27FC236}">
                <a16:creationId xmlns:a16="http://schemas.microsoft.com/office/drawing/2014/main" id="{C428F8CF-7394-4863-8531-B06F70389216}"/>
              </a:ext>
            </a:extLst>
          </p:cNvPr>
          <p:cNvSpPr>
            <a:spLocks xmlns:a="http://schemas.openxmlformats.org/drawingml/2006/main" noGrp="1"/>
          </p:cNvSpPr>
          <p:nvPr/>
        </p:nvSpPr>
        <p:spPr>
          <a:xfrm xmlns:a="http://schemas.openxmlformats.org/drawingml/2006/main">
            <a:off x="6743700" y="47244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a:t>
            </a:r>
          </a:p>
        </p:txBody>
      </p:sp>
      <p:sp>
        <p:nvSpPr>
          <p:cNvPr id="18" name="s5-next-3">
            <a:extLst xmlns:a="http://schemas.openxmlformats.org/drawingml/2006/main">
              <a:ext uri="{FF2B5EF4-FFF2-40B4-BE49-F238E27FC236}">
                <a16:creationId xmlns:a16="http://schemas.microsoft.com/office/drawing/2014/main" id="{0252B47D-DC52-4199-BA5A-56B17414A0EB}"/>
              </a:ext>
            </a:extLst>
          </p:cNvPr>
          <p:cNvSpPr>
            <a:spLocks xmlns:a="http://schemas.openxmlformats.org/drawingml/2006/main" noGrp="1"/>
          </p:cNvSpPr>
          <p:nvPr/>
        </p:nvSpPr>
        <p:spPr>
          <a:xfrm xmlns:a="http://schemas.openxmlformats.org/drawingml/2006/main">
            <a:off x="7048500" y="4724400"/>
            <a:ext cx="3790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500">
                <a:solidFill>
                  <a:srgbClr val="F4F1E8"/>
                </a:solidFill>
                <a:latin typeface="Aptos"/>
                <a:ea typeface="Aptos"/>
                <a:cs typeface="Aptos"/>
              </a:defRPr>
            </a:pPr>
            <a:r>
              <a:rPr sz="1500">
                <a:solidFill>
                  <a:srgbClr val="F4F1E8"/>
                </a:solidFill>
                <a:latin typeface="Aptos"/>
                <a:ea typeface="Aptos"/>
                <a:cs typeface="Aptos"/>
              </a:rPr>
              <a:t>Same safety model for each builder’s exact configuration</a:t>
            </a:r>
          </a:p>
        </p:txBody>
      </p:sp>
      <p:sp>
        <p:nvSpPr>
          <p:cNvPr id="19" name="s5-close">
            <a:extLst xmlns:a="http://schemas.openxmlformats.org/drawingml/2006/main">
              <a:ext uri="{FF2B5EF4-FFF2-40B4-BE49-F238E27FC236}">
                <a16:creationId xmlns:a16="http://schemas.microsoft.com/office/drawing/2014/main" id="{E4D72A8A-3DDD-4BB1-B10C-C9DE3D6492F9}"/>
              </a:ext>
            </a:extLst>
          </p:cNvPr>
          <p:cNvSpPr>
            <a:spLocks xmlns:a="http://schemas.openxmlformats.org/drawingml/2006/main" noGrp="1"/>
          </p:cNvSpPr>
          <p:nvPr/>
        </p:nvSpPr>
        <p:spPr>
          <a:xfrm xmlns:a="http://schemas.openxmlformats.org/drawingml/2006/main">
            <a:off x="685800" y="5772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defRPr sz="1650" b="1">
                <a:solidFill>
                  <a:srgbClr val="C8FF00"/>
                </a:solidFill>
                <a:latin typeface="Arial Narrow"/>
                <a:ea typeface="Arial Narrow"/>
                <a:cs typeface="Arial Narrow"/>
              </a:defRPr>
            </a:pPr>
            <a:r>
              <a:rPr sz="1650" b="1">
                <a:solidFill>
                  <a:srgbClr val="C8FF00"/>
                </a:solidFill>
                <a:latin typeface="Arial Narrow"/>
                <a:ea typeface="Arial Narrow"/>
                <a:cs typeface="Arial Narrow"/>
              </a:rPr>
              <a:t>The point is not to replace judgment. It is to make the correct documentation available at the moment a builder needs 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70eb2ce5b4249d3"/>
          <a:stretch xmlns:a="http://schemas.openxmlformats.org/drawingml/2006/main"/>
        </p:blipFill>
        <p:spPr>
          <a:xfrm xmlns:a="http://schemas.openxmlformats.org/drawingml/2006/main">
            <a:off x="10896600" y="5067300"/>
            <a:ext cx="800100" cy="800100"/>
          </a:xfrm>
          <a:prstGeom xmlns:a="http://schemas.openxmlformats.org/drawingml/2006/main" prst="rect">
            <a:avLst/>
          </a:prstGeom>
        </p:spPr>
      </p:pic>
      <p:sp>
        <p:nvSpPr>
          <p:cNvPr id="21" name="page-5">
            <a:extLst xmlns:a="http://schemas.openxmlformats.org/drawingml/2006/main">
              <a:ext uri="{FF2B5EF4-FFF2-40B4-BE49-F238E27FC236}">
                <a16:creationId xmlns:a16="http://schemas.microsoft.com/office/drawing/2014/main" id="{3260A8E4-5E7B-4085-8DF1-46BB41126B49}"/>
              </a:ext>
            </a:extLst>
          </p:cNvPr>
          <p:cNvSpPr>
            <a:spLocks xmlns:a="http://schemas.openxmlformats.org/drawingml/2006/main" noGrp="1"/>
          </p:cNvSpPr>
          <p:nvPr/>
        </p:nvSpPr>
        <p:spPr>
          <a:xfrm xmlns:a="http://schemas.openxmlformats.org/drawingml/2006/main">
            <a:off x="10839450" y="63627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r">
              <a:defRPr sz="900">
                <a:solidFill>
                  <a:srgbClr val="A7ABA1"/>
                </a:solidFill>
                <a:latin typeface="Courier New"/>
                <a:ea typeface="Courier New"/>
                <a:cs typeface="Courier New"/>
              </a:defRPr>
            </a:pPr>
            <a:r>
              <a:rPr sz="900">
                <a:solidFill>
                  <a:srgbClr val="A7ABA1"/>
                </a:solidFill>
                <a:latin typeface="Courier New"/>
                <a:ea typeface="Courier New"/>
                <a:cs typeface="Courier New"/>
              </a:rPr>
              <a:t>05 / 05</a:t>
            </a:r>
          </a:p>
        </p:txBody>
      </p:sp>
    </p:spTree>
    <p:extLst>
      <p:ext uri="{BB962C8B-B14F-4D97-AF65-F5344CB8AC3E}">
        <p14:creationId xmlns:p14="http://schemas.microsoft.com/office/powerpoint/2010/main" val="390812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2026-08-27T20:00:04.8250000Z</dcterms:created>
  <dcterms:modified xsi:type="dcterms:W3CDTF">2026-08-27T20:00:04.8250000Z</dcterms:modified>
</coreProperties>
</file>